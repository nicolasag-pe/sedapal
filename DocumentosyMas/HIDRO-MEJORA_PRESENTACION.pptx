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7.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9.png" ContentType="image/png"/>
  <Override PartName="/ppt/media/image18.png" ContentType="image/png"/>
  <Override PartName="/ppt/media/image12.png" ContentType="image/png"/>
  <Override PartName="/ppt/media/image3.png" ContentType="image/png"/>
  <Override PartName="/ppt/media/image19.png" ContentType="image/png"/>
  <Override PartName="/ppt/media/image4.jpeg" ContentType="image/jpeg"/>
  <Override PartName="/ppt/media/image8.png" ContentType="image/png"/>
  <Override PartName="/ppt/media/image17.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nSpc>
                <a:spcPct val="90000"/>
              </a:lnSpc>
            </a:pPr>
            <a:r>
              <a:rPr b="0" lang="en-US" sz="4400" strike="noStrike" u="none">
                <a:solidFill>
                  <a:schemeClr val="dk1"/>
                </a:solidFill>
                <a:effectLst/>
                <a:uFillTx/>
                <a:latin typeface="Aptos"/>
              </a:rPr>
              <a:t>Pulse para desplazar la diapositiva</a:t>
            </a:r>
            <a:endParaRPr b="0" lang="en-US" sz="4400" strike="noStrike" u="none">
              <a:solidFill>
                <a:schemeClr val="dk1"/>
              </a:solidFill>
              <a:effectLst/>
              <a:uFillTx/>
              <a:latin typeface="Aptos"/>
            </a:endParaRPr>
          </a:p>
        </p:txBody>
      </p:sp>
      <p:sp>
        <p:nvSpPr>
          <p:cNvPr id="1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Pulse para editar el formato de las notas</a:t>
            </a:r>
            <a:endParaRPr b="0" lang="en-US" sz="2000" strike="noStrike" u="none">
              <a:solidFill>
                <a:srgbClr val="000000"/>
              </a:solidFill>
              <a:effectLst/>
              <a:uFillTx/>
              <a:latin typeface="Arial"/>
            </a:endParaRPr>
          </a:p>
        </p:txBody>
      </p:sp>
      <p:sp>
        <p:nvSpPr>
          <p:cNvPr id="1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&lt;cabecera&gt;</a:t>
            </a:r>
            <a:endParaRPr b="0" lang="en-US" sz="1400" strike="noStrike" u="none">
              <a:solidFill>
                <a:srgbClr val="000000"/>
              </a:solidFill>
              <a:effectLst/>
              <a:uFillTx/>
              <a:latin typeface="Times New Roman"/>
            </a:endParaRPr>
          </a:p>
        </p:txBody>
      </p:sp>
      <p:sp>
        <p:nvSpPr>
          <p:cNvPr id="14"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&lt;fecha/hora&gt;</a:t>
            </a:r>
            <a:endParaRPr b="0" lang="en-US" sz="1400" strike="noStrike" u="none">
              <a:solidFill>
                <a:srgbClr val="000000"/>
              </a:solidFill>
              <a:effectLst/>
              <a:uFillTx/>
              <a:latin typeface="Times New Roman"/>
            </a:endParaRPr>
          </a:p>
        </p:txBody>
      </p:sp>
      <p:sp>
        <p:nvSpPr>
          <p:cNvPr id="15"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&lt;pie de página&gt;</a:t>
            </a:r>
            <a:endParaRPr b="0" lang="en-US" sz="1400" strike="noStrike" u="none">
              <a:solidFill>
                <a:srgbClr val="000000"/>
              </a:solidFill>
              <a:effectLst/>
              <a:uFillTx/>
              <a:latin typeface="Times New Roman"/>
            </a:endParaRPr>
          </a:p>
        </p:txBody>
      </p:sp>
      <p:sp>
        <p:nvSpPr>
          <p:cNvPr id="16"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15C73F25-717C-4C0C-874E-5E2ABB579CCE}" type="slidenum">
              <a:rPr b="0" lang="en-US" sz="1400" strike="noStrike" u="none">
                <a:solidFill>
                  <a:srgbClr val="000000"/>
                </a:solidFill>
                <a:effectLst/>
                <a:uFillTx/>
                <a:latin typeface="Times New Roman"/>
              </a:rPr>
              <a:t>&lt;número&gt;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0" y="0"/>
            <a:ext cx="0" cy="0"/>
          </a:xfrm>
          <a:prstGeom prst="rect">
            <a:avLst/>
          </a:prstGeom>
          <a:ln w="0">
            <a:noFill/>
          </a:ln>
        </p:spPr>
      </p:sp>
      <p:sp>
        <p:nvSpPr>
          <p:cNvPr id="2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 — HIDRO-MEJORA</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35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Buenos días. Presentamos Hidro-Mejora, un proyecto universitario que reúne la consulta del servicio de agua y la atención de sus usuarios. Pensemos en una persona que necesita revisar un recibo y, al mismo tiempo, reportar una fuga. Nuestra propuesta reúne esas gestiones en una aplicación Android y conecta al personal autorizado mediante un panel web. Hoy explicaremos qué construimos, cómo se comunican sus componentes y qué evidencias tenemos de su funcionamiento. El proyecto es académico e independiente de SEDAPAL.</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Propuesta de valor: utilidad concreta que la solución ofrece a una persona. En este caso, consultar y dar seguimiento desde una misma plataforma.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Abrir con el caso de una consulta de recibo y un reporte de fuga. No afirmar convenios ni comercialización.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Para entender el valor de la propuesta, primero veamos la situación que buscamos mejorar.</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https://github.com/NicolasAG-pe/Sedapal/blob/7930b26388306df67d32edf14d119bc99c0c7f18/README.md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70"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0" y="0"/>
            <a:ext cx="0" cy="0"/>
          </a:xfrm>
          <a:prstGeom prst="rect">
            <a:avLst/>
          </a:prstGeom>
          <a:ln w="0">
            <a:noFill/>
          </a:ln>
        </p:spPr>
      </p:sp>
      <p:sp>
        <p:nvSpPr>
          <p:cNvPr id="2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2 — Una gestión que pierde continuidad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50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Imaginemos que una persona conserva sus recibos en distintos lugares y consulta un reporte por un canal separado. Cada gestión exige volver a buscar información y explicar el mismo caso. El personal administrativo también necesita reunir antecedentes antes de responder. Ese es el problema de coordinación que aborda nuestro proyecto: la falta de continuidad entre consultar, reportar y atender. Lo presentamos como un escenario de diseño descrito en nuestro informe, sin atribuirle porcentajes ni resultados de una investigación de campo que no hemos acreditado.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Trazabilidad: posibilidad de relacionar una gestión con su registro y su estado. Centralización: reunir información relacionada en un sistema común.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Una fuga reportada sin un estado visible obliga al usuario a preguntar otra vez qué ocurrió con su solicitud.</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Hidro-Mejora propone conservar esa continuidad dentro de una plataforma compartida.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Informe SedapalAppProyecto-v3_APA7.docx, situación problemática; https://github.com/NicolasAG-pe/Sedapal/blob/7930b26388306df67d32edf14d119bc99c0c7f18/README.md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73"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0" y="0"/>
            <a:ext cx="0" cy="0"/>
          </a:xfrm>
          <a:prstGeom prst="rect">
            <a:avLst/>
          </a:prstGeom>
          <a:ln w="0">
            <a:noFill/>
          </a:ln>
        </p:spPr>
      </p:sp>
      <p:sp>
        <p:nvSpPr>
          <p:cNvPr id="2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3 — Una plataforma, dos experiencias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45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solución tiene dos experiencias distintas. El usuario consulta sus recibos y registra gestiones desde Android. El administrador trabaja con módulos de gestión en una plataforma web independiente. Ambos utilizan la misma API y la misma base de producción. Así, una incidencia conserva su relación con el suministro y el administrador puede actualizar su estado. Los beneficios que podemos mostrar son la consulta centralizada, el seguimiento de registros y la comunicación entre ambos roles. Estos beneficios describen capacidades del software, sin estimar ahorros de tiempo o dinero.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API: interfaz que permite que dos programas intercambien solicitudes y respuestas bajo reglas definidas.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aplicación envía el reporte y el panel consulta ese registro desde el mismo backend.</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Ahora precisemos a quién sirve cada experiencia y cuál es nuestro objetivo.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https://github.com/NicolasAG-pe/Sedapal/blob/7930b26388306df67d32edf14d119bc99c0c7f18/docs/ARCHITECTURE.md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76"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0" y="0"/>
            <a:ext cx="0" cy="0"/>
          </a:xfrm>
          <a:prstGeom prst="rect">
            <a:avLst/>
          </a:prstGeom>
          <a:ln w="0">
            <a:noFill/>
          </a:ln>
        </p:spPr>
      </p:sp>
      <p:sp>
        <p:nvSpPr>
          <p:cNvPr id="2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4 — Objetivo y usuarios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40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Nuestro objetivo es desarrollar una solución que centralice la consulta del suministro y permita gestionar la atención asociada. El usuario necesita ver su información y conocer el avance de sus gestiones. El administrador necesita revisar registros, responder solicitudes y actualizar estados dentro de sus permisos. Separar las interfaces ayuda a que cada persona encuentre las tareas de su rol. Sin embargo, la seguridad no depende de ocultar botones: el servidor verifica qué operaciones puede realizar cada cuenta.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Requisito funcional: acción que debe permitir el sistema. Autorización: comprobación de los permisos para ejecutar una operación.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Consultar los recibos propios es una función de usuario. Gestionar recibos desde el panel requiere rol administrativo.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Veamos primero la experiencia de quien utiliza el servicio.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https://github.com/NicolasAG-pe/Sedapal/blob/7930b26388306df67d32edf14d119bc99c0c7f18/README.md; https://github.com/NicolasAG-pe/Sedapal/blob/7930b26388306df67d32edf14d119bc99c0c7f18/docs/SECURITY.md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79"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0" y="0"/>
            <a:ext cx="0" cy="0"/>
          </a:xfrm>
          <a:prstGeom prst="rect">
            <a:avLst/>
          </a:prstGeom>
          <a:ln w="0">
            <a:noFill/>
          </a:ln>
        </p:spPr>
      </p:sp>
      <p:sp>
        <p:nvSpPr>
          <p:cNvPr id="2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5 — El servicio en tu Android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60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aplicación reúne recibos, consumo registrado, deuda, documentos PDF y registros de pagos. También permite reportar incidencias con fotografía o ubicación opcionales, enviar solicitudes de atención y consultar cortes y notificaciones. HidroBot ayuda con consultas y navegación mediante reglas locales, sin un modelo generativo externo. Es importante entender el alcance: un pago registra una operación del prototipo y no realiza un cargo bancario. Los PDF son referenciales. El teléfono que vemos es un mockup conceptual identificado como tal; las funciones descritas sí están presentes en el código revisado.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Capacitor: contenedor que empaqueta la interfaz web dentro de una app Android y permite acceder a capacidades nativas mediante un puente.</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El usuario puede consultar un recibo y generar su PDF. La constancia de pago corresponde al registro académico del sistema.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Estas funciones tienen sentido cuando forman un recorrido claro.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https://github.com/NicolasAG-pe/Sedapal/blob/7930b26388306df67d32edf14d119bc99c0c7f18/Frontend/index.html; https://github.com/NicolasAG-pe/Sedapal/blob/7930b26388306df67d32edf14d119bc99c0c7f18/Frontend/assets/js/documents.js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82"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0" y="0"/>
            <a:ext cx="0" cy="0"/>
          </a:xfrm>
          <a:prstGeom prst="rect">
            <a:avLst/>
          </a:prstGeom>
          <a:ln w="0">
            <a:noFill/>
          </a:ln>
        </p:spPr>
      </p:sp>
      <p:sp>
        <p:nvSpPr>
          <p:cNvPr id="2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6 — Un recorrido que se puede explicar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50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Mostraremos un recorrido real del producto: iniciar sesión con el suministro, entrar al historial, revisar el detalle de un recibo y obtener su PDF. Al iniciar sesión, el servidor valida las credenciales y entrega un token. Las consultas posteriores utilizan ese token para obtener información del suministro autenticado. La interfaz presenta los datos y el módulo de documentos genera el PDF. En Android, un puente nativo participa en su apertura o guardado. El diagrama representa el flujo del código, no una grabación de una prueba física realizada hoy.</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Frontend: interfaz que ve el usuario. Token: dato firmado que acompaña las solicitudes autenticadas. El token no reemplaza la verificación de permisos.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Para la exposición conviene usar un recibo sintético y un PDF previamente revisado, sin información personal.</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otra mitad del recorrido ocurre en la plataforma administrativa.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https://github.com/NicolasAG-pe/Sedapal/blob/7930b26388306df67d32edf14d119bc99c0c7f18/Frontend/index.html; https://github.com/NicolasAG-pe/Sedapal/blob/7930b26388306df67d32edf14d119bc99c0c7f18/Frontend/assets/js/documents.js; https://github.com/NicolasAG-pe/Sedapal/blob/7930b26388306df67d32edf14d119bc99c0c7f18/docs/ANDROID.md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85"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0" y="0"/>
            <a:ext cx="0" cy="0"/>
          </a:xfrm>
          <a:prstGeom prst="rect">
            <a:avLst/>
          </a:prstGeom>
          <a:ln w="0">
            <a:noFill/>
          </a:ln>
        </p:spPr>
      </p:sp>
      <p:sp>
        <p:nvSpPr>
          <p:cNvPr id="2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7 — Administración con contexto</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55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El panel web reúne un resumen operativo y módulos separados para usuarios, recibos, pagos, incidencias, cortes y atención. Permite consultar registros y ejecutar las actualizaciones autorizadas que ofrece la API. Por ejemplo, un administrador puede revisar una incidencia y cambiar su estado, o responder una solicitud de atención. La captura corresponde al acceso público publicado. No muestra un dashboard autenticado ni cifras de clientes. El contenido de los módulos se confirma en el código del panel y en las rutas administrativas del servidor.</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Rol: conjunto de permisos de una cuenta. Panel administrativo: interfaz de trabajo para las operaciones autorizadas de gestión.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Una incidencia puede pasar de Registrada a En revisión y después a Resuelta según la actuación administrativa.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Veamos cómo una actualización conecta ambas interfaces.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https://github.com/NicolasAG-pe/Sedapal/blob/7930b26388306df67d32edf14d119bc99c0c7f18/Admin/assets/js/admin.js; https://github.com/NicolasAG-pe/Sedapal/blob/7930b26388306df67d32edf14d119bc99c0c7f18/Backend/server.js; https://hidro-mehora-admin.vercel.app/</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88"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0" y="0"/>
            <a:ext cx="0" cy="0"/>
          </a:xfrm>
          <a:prstGeom prst="rect">
            <a:avLst/>
          </a:prstGeom>
          <a:ln w="0">
            <a:noFill/>
          </a:ln>
        </p:spPr>
      </p:sp>
      <p:sp>
        <p:nvSpPr>
          <p:cNvPr id="2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8 — Una actualización conecta ambos lados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55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Cuando el administrador actualiza una incidencia, envía una solicitud a la API. El backend verifica su token y su rol, valida el cambio y lo guarda en PostgreSQL. Después emite un aviso mediante Socket.IO a los destinatarios que corresponden. El cliente recibe el aviso y vuelve a consultar los datos por REST. Esta diferencia importa: el evento avisa que algo cambió, mientras la consulta recupera el estado vigente. Las salas las asigna el servidor. Tras una reconexión, el cliente también recupera información por REST.</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Socket.IO: biblioteca de comunicación por eventos, con polling y WebSocket. Sala: grupo de conexiones definido por el servidor para dirigir avisos.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El aviso incidencia:actualizada provoca que la interfaz consulte otra vez el registro. No equivale a una notificación push con la aplicación cerrada.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Esa continuidad permite comparar el proceso propuesto con una gestión dispersa.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https://github.com/NicolasAG-pe/Sedapal/blob/7930b26388306df67d32edf14d119bc99c0c7f18/docs/API.md; https://github.com/NicolasAG-pe/Sedapal/blob/7930b26388306df67d32edf14d119bc99c0c7f18/docs/ARCHITECTURE.md; https://github.com/NicolasAG-pe/Sedapal/blob/7930b26388306df67d32edf14d119bc99c0c7f18/Backend/server.js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91"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0" y="0"/>
            <a:ext cx="0" cy="0"/>
          </a:xfrm>
          <a:prstGeom prst="rect">
            <a:avLst/>
          </a:prstGeom>
          <a:ln w="0">
            <a:noFill/>
          </a:ln>
        </p:spPr>
      </p:sp>
      <p:sp>
        <p:nvSpPr>
          <p:cNvPr id="2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9 — Valor en cada gestión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65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comparación resume el cambio que proponemos. En el escenario disperso, la persona busca antecedentes y consulta el avance por separado. En Hidro-Mejora, consulta registros relacionados con su suministro y encuentra estados dentro del sistema. Para el administrador, los módulos organizan la revisión y las actualizaciones. La ventaja defendible es que el software reúne esas operaciones y conserva sus relaciones. No hemos medido reducción de colas, costos ni tiempos de atención. Para demostrar ese impacto necesitaríamos un piloto con tareas equivalentes, participantes y criterios de medición definidos.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Beneficio funcional: utilidad observable de una función. Indicador de impacto: medida obtenida con un método y un periodo definidos.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Un futuro piloto podría medir cuántas personas completan la consulta de un recibo y cuánto tardan, sin inventar hoy ese resultado.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Para sostener estas capacidades, definimos responsabilidades claras en la arquitectura.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https://github.com/NicolasAG-pe/Sedapal/blob/7930b26388306df67d32edf14d119bc99c0c7f18/README.md; https://github.com/NicolasAG-pe/Sedapal/blob/7930b26388306df67d32edf14d119bc99c0c7f18/docs/MEJORA-PROFESIONAL.md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94"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0" y="0"/>
            <a:ext cx="0" cy="0"/>
          </a:xfrm>
          <a:prstGeom prst="rect">
            <a:avLst/>
          </a:prstGeom>
          <a:ln w="0">
            <a:noFill/>
          </a:ln>
        </p:spPr>
      </p:sp>
      <p:sp>
        <p:nvSpPr>
          <p:cNvPr id="2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10 — Arquitectura con responsabilidades claras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75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Usamos una arquitectura cliente-servidor con un backend compartido. Android contiene el frontend del usuario con Capacitor. Vercel publica el panel administrativo. Ambos se comunican por HTTPS con la API de Node y Express en Render, y esa API accede a PostgreSQL en Neon mediante TLS. En desarrollo, Docker Compose organiza las dos interfaces con Nginx, el backend y PostgreSQL local. Son dos entornos distintos: la base local y Neon no se sincronizan automáticamente. En el modelo de datos, un usuario se relaciona con suministros, los suministros con recibos y los recibos con pagos.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API REST: recursos accesibles por HTTP. Clave foránea: restricción que relaciona una fila con otra tabla. 1:N significa que una fila puede relacionarse con varias filas del otro lado.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GET /api/me/recibos obtiene los recibos del suministro autenticado. La app nunca recibe la contraseña de PostgreSQL.</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selección de herramientas responde a esas responsabilidades.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https://github.com/NicolasAG-pe/Sedapal/blob/7930b26388306df67d32edf14d119bc99c0c7f18/docs/ARCHITECTURE.md; https://github.com/NicolasAG-pe/Sedapal/blob/7930b26388306df67d32edf14d119bc99c0c7f18/docs/DATABASE.md; https://github.com/NicolasAG-pe/Sedapal/blob/7930b26388306df67d32edf14d119bc99c0c7f18/compose.yaml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297"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0" y="0"/>
            <a:ext cx="0" cy="0"/>
          </a:xfrm>
          <a:prstGeom prst="rect">
            <a:avLst/>
          </a:prstGeom>
          <a:ln w="0">
            <a:noFill/>
          </a:ln>
        </p:spPr>
      </p:sp>
      <p:sp>
        <p:nvSpPr>
          <p:cNvPr id="2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11 — Tecnologías elegidas por su función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60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HTML, CSS y JavaScript permiten construir la interfaz que compartimos con Android mediante Capacitor. Node.js y Express concentran las reglas de negocio y las rutas HTTP. PostgreSQL aporta relaciones, restricciones y transacciones para los registros. JWT participa en la autenticación de solicitudes y scrypt protege las contraseñas almacenadas. Socket.IO comunica cambios. Docker facilita reproducir el entorno de desarrollo. GitHub mantiene las fuentes y la distribución de la APK, mientras Vercel, Render y Neon cumplen funciones distintas de despliegue. Esta elección mantiene un backend único y un alcance manejable para el equipo.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Runtime: entorno que ejecuta el programa. Transacción: grupo de operaciones que se confirma o revierte conjuntamente. Docker organiza procesos aislados en contenedores.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Separar el panel estático del backend permite publicar cambios de interfaz sin incorporar credenciales de base de datos al navegador.</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Las herramientas también necesitan controles explícitos de acceso.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https://github.com/NicolasAG-pe/Sedapal/blob/7930b26388306df67d32edf14d119bc99c0c7f18/package.json; https://github.com/NicolasAG-pe/Sedapal/blob/7930b26388306df67d32edf14d119bc99c0c7f18/Backend/package.json; https://github.com/NicolasAG-pe/Sedapal/blob/7930b26388306df67d32edf14d119bc99c0c7f18/docs/DEPLOYMENT.md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a:p>
            <a:pPr indent="0">
              <a:lnSpc>
                <a:spcPct val="100000"/>
              </a:lnSpc>
              <a:buNone/>
            </a:pPr>
            <a:br>
              <a:rPr sz="2000"/>
            </a:br>
            <a:r>
              <a:rPr b="0" lang="es-ES" sz="2000" strike="noStrike" u="none">
                <a:solidFill>
                  <a:srgbClr val="000000"/>
                </a:solidFill>
                <a:effectLst/>
                <a:uFillTx/>
                <a:latin typeface="Arial"/>
              </a:rPr>
              <a:t>Marcas: glifos de Simple Icons (simple-icons/simple-icons), conservados sin rediseñar. Referencias de uso y licencias en https://simpleicons.org. Son marcas de sus titulares.</a:t>
            </a:r>
            <a:endParaRPr b="0" lang="es-ES" sz="2000" strike="noStrike" u="none">
              <a:solidFill>
                <a:srgbClr val="000000"/>
              </a:solidFill>
              <a:effectLst/>
              <a:uFillTx/>
              <a:latin typeface="Arial"/>
            </a:endParaRPr>
          </a:p>
        </p:txBody>
      </p:sp>
      <p:sp>
        <p:nvSpPr>
          <p:cNvPr id="300"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0" y="0"/>
            <a:ext cx="0" cy="0"/>
          </a:xfrm>
          <a:prstGeom prst="rect">
            <a:avLst/>
          </a:prstGeom>
          <a:ln w="0">
            <a:noFill/>
          </a:ln>
        </p:spPr>
      </p:sp>
      <p:sp>
        <p:nvSpPr>
          <p:cNvPr id="3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12 — Seguridad desde el servidor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75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El backend verifica la firma y el vencimiento del JWT y consulta la cuenta activa en PostgreSQL. Después aplica el rol y la propiedad del suministro. Las contraseñas se guardan como una derivación scrypt con salt aleatorio, no como texto legible. Las consultas parametrizadas separan los valores del SQL y las conexiones productivas usan protección de transporte. También existen límites de solicitudes y controles de fotografías. Debemos reconocer los límites actuales: cerrar sesión no revoca centralmente todos los tokens, Socket.IO usa memoria de una instancia y no acreditamos una auditoría externa de seguridad.</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Autenticación identifica a la cuenta. Autorización decide qué puede hacer. Hash de contraseña es una derivación verificable. TLS protege datos durante el transporte. CORS controla lectura entre orígenes en navegadores y no sustituye los permisos.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Aunque alguien modifique el HTML o el rol del navegador, la ruta administrativa vuelve a verificar los permisos en el servidor.</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controles se defienden mejor cuando indicamos qué pruebas los respaldan y cuáles quedan pendientes.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https://github.com/NicolasAG-pe/Sedapal/blob/7930b26388306df67d32edf14d119bc99c0c7f18/docs/SECURITY.md; https://github.com/NicolasAG-pe/Sedapal/blob/7930b26388306df67d32edf14d119bc99c0c7f18/Backend/server.js; https://github.com/NicolasAG-pe/Sedapal/blob/7930b26388306df67d32edf14d119bc99c0c7f18/Backend/config.js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303"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0" y="0"/>
            <a:ext cx="0" cy="0"/>
          </a:xfrm>
          <a:prstGeom prst="rect">
            <a:avLst/>
          </a:prstGeom>
          <a:ln w="0">
            <a:noFill/>
          </a:ln>
        </p:spPr>
      </p:sp>
      <p:sp>
        <p:nvSpPr>
          <p:cNvPr id="3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13 — Evidencia con alcance definido</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60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Para esta preparación se ejecutaron doce pruebas del repositorio main, todas aprobadas: cinco sobre configuración y empaquetado público y siete sobre controles de firma. Se usó Node 24 del entorno disponible, sin firmar ni compilar una APK. La documentación de la versión 1.0.0 registra una validación manual en teléfono realizada por el propietario el 8 de octubre. Además, el PR de desarrollo documenta veinticinco comprobaciones Chromium con base aislada. Esos resultados pertenecen a fechas, versiones y entornos distintos. Las pruebas de PostgreSQL no pudieron repetirse aquí por falta de dependencias, y no presentamos pruebas de carga productiva.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Prueba unitaria comprueba una parte delimitada. Integración comprueba varios componentes. End-to-end recorre un flujo completo. Un resultado histórico debe conservar su fecha y versión.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Una prueba de empaquetado confirma que el runtime del cliente excluye código administrativo; no acredita una conexión real con Neon.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demostración debe respetar esos mismos límites y concentrarse en un caso breve.</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https://github.com/NicolasAG-pe/Sedapal/blob/7930b26388306df67d32edf14d119bc99c0c7f18/scripts/test/public-api-config.test.js; https://github.com/NicolasAG-pe/Sedapal/blob/7930b26388306df67d32edf14d119bc99c0c7f18/scripts/test/android-release-signing.test.cjs; https://github.com/NicolasAG-pe/Sedapal/blob/7930b26388306df67d32edf14d119bc99c0c7f18/docs/TESTING.md; https://github.com/NicolasAG-pe/Sedapal/blob/226048c79168d72a605f972ab119ca0258abb881/docs/correo-outbox.md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306"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0" y="0"/>
            <a:ext cx="0" cy="0"/>
          </a:xfrm>
          <a:prstGeom prst="rect">
            <a:avLst/>
          </a:prstGeom>
          <a:ln w="0">
            <a:noFill/>
          </a:ln>
        </p:spPr>
      </p:sp>
      <p:sp>
        <p:nvSpPr>
          <p:cNvPr id="3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14 — Demostración en dos minutos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120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Vamos a recorrer un caso con datos sintéticos en un entorno de demostración preparado por el equipo. Primero consultaremos un recibo y abriremos su PDF. Después registraremos una incidencia breve, pasaremos al panel y cambiaremos su estado. Finalmente volveremos al cliente para comprobar la actualización. Antes de la clase debemos ensayar con las dos sesiones y revisar la conexión. Si no hay red, mostraremos un respaldo previamente grabado o las capturas de la sesión de ensayo, explicando su fecha. No sustituiremos la demostración por una simulación presentada como operación real.</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Datos sintéticos: registros creados para probar, sin corresponder a clientes reales. Verificación funcional: comprobar que la acción produce el resultado esperado.</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0:00 a 0:25 recibo y PDF. 0:25 a 0:55 incidencia. 0:55 a 1:30 actualización administrativa. 1:30 a 2:00 confirmación en el cliente. Usar base de pruebas autorizada.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 que acabamos de mostrar permite separar la base funcional de los siguientes avances.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https://github.com/NicolasAG-pe/Sedapal/blob/7930b26388306df67d32edf14d119bc99c0c7f18/docs/TESTING.md; https://github.com/NicolasAG-pe/Sedapal/blob/7930b26388306df67d32edf14d119bc99c0c7f18/docs/API.md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309"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0" y="0"/>
            <a:ext cx="0" cy="0"/>
          </a:xfrm>
          <a:prstGeom prst="rect">
            <a:avLst/>
          </a:prstGeom>
          <a:ln w="0">
            <a:noFill/>
          </a:ln>
        </p:spPr>
      </p:sp>
      <p:sp>
        <p:nvSpPr>
          <p:cNvPr id="3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15 — Una base funcional que sigue creciendo</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60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La base disponible es la versión 1.0.0, con aplicación Android y panel administrativo. Hay un PR abierto que implementa verificación de correo, una outbox transaccional y mejoras de integridad concurrente de recibos y pagos. Revisamos ese código, pero el PR sigue como borrador y no está fusionado. No debemos decir que esos avances ya operan en producción. Sus pendientes incluyen compatibilidad con Android, preparación operativa y migraciones. Como futuro proponemos un piloto medido, pruebas de carga, mejoras de recuperación de sesión y evaluación de notificaciones push. Cada avance necesita pruebas y una publicación coordinada.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OTP: código de un solo uso. Outbox transaccional: registro persistente de un envío pendiente confirmado junto con la operación de negocio. Pull request: propuesta de cambios revisable antes de integrarla.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En el PR, HTTP 202 indica solicitud en cola. La aceptación del proveedor de correo no demuestra recepción. El worker de producción permanece pendiente de habilitación.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Nuestro cierre reúne la utilidad del producto con las decisiones de ingeniería que la sostienen.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https://github.com/NicolasAG-pe/Sedapal/blob/7930b26388306df67d32edf14d119bc99c0c7f18/README.md; https://github.com/NicolasAG-pe/Sedapal/pull/1; https://github.com/NicolasAG-pe/Sedapal/blob/226048c79168d72a605f972ab119ca0258abb881/docs/correo-outbox.md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312"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0" y="0"/>
            <a:ext cx="0" cy="0"/>
          </a:xfrm>
          <a:prstGeom prst="rect">
            <a:avLst/>
          </a:prstGeom>
          <a:ln w="0">
            <a:noFill/>
          </a:ln>
        </p:spPr>
      </p:sp>
      <p:sp>
        <p:nvSpPr>
          <p:cNvPr id="31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s-ES" sz="2000" strike="noStrike" u="none">
                <a:solidFill>
                  <a:srgbClr val="000000"/>
                </a:solidFill>
                <a:effectLst/>
                <a:uFillTx/>
                <a:latin typeface="Arial"/>
              </a:rPr>
              <a:t>DIAPOSITIVA 16 — Tu suministro, a tu alcance</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TIEMPO SUGERIDO: 35 segundos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GUION ORAL</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Hidro-Mejora reúne consultas y gestiones del suministro en una experiencia digital conectada. La aplicación acerca la información al usuario y el panel da al administrador herramientas para atenderla. El proyecto tiene una base funcional con un alcance académico definido y avances que aún debemos publicar de forma coordinada. Su valor está en que podemos relacionar cada función con una necesidad y explicar qué ocurre desde la interfaz hasta la base de datos. Gracias por su atención. Estamos listos para responder sus preguntas.</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CONCEPTOS PARA DOMINAR</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Defender el proyecto consiste en relacionar necesidad, implementación y evidencia, con límites claros de versión.</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EJEMPLO O INDICACIÓN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Ante una pregunta, responder primero la idea, después el mecanismo y por último su límite o evidencia.</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TRANSICIÓN</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Abrir la ronda de preguntas y volver al diagrama técnico cuando ayude a responder.</a:t>
            </a:r>
            <a:endParaRPr b="0" lang="es-ES" sz="2000" strike="noStrike" u="none">
              <a:solidFill>
                <a:srgbClr val="000000"/>
              </a:solidFill>
              <a:effectLst/>
              <a:uFillTx/>
              <a:latin typeface="Arial"/>
            </a:endParaRPr>
          </a:p>
          <a:p>
            <a:pPr indent="0">
              <a:lnSpc>
                <a:spcPct val="100000"/>
              </a:lnSpc>
              <a:buNone/>
            </a:pP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FUENTES</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https://github.com/NicolasAG-pe/Sedapal/blob/7930b26388306df67d32edf14d119bc99c0c7f18/README.md; https://github.com/NicolasAG-pe/Sedapal/blob/7930b26388306df67d32edf14d119bc99c0c7f18/docs/ARCHITECTURE.md</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Consulta del repositorio: 19 de octubre de 2026. main 7930b26. Desarrollo 226048c.</a:t>
            </a:r>
            <a:endParaRPr b="0" lang="es-ES" sz="2000" strike="noStrike" u="none">
              <a:solidFill>
                <a:srgbClr val="000000"/>
              </a:solidFill>
              <a:effectLst/>
              <a:uFillTx/>
              <a:latin typeface="Arial"/>
            </a:endParaRPr>
          </a:p>
          <a:p>
            <a:pPr indent="0">
              <a:lnSpc>
                <a:spcPct val="100000"/>
              </a:lnSpc>
              <a:buNone/>
            </a:pPr>
            <a:r>
              <a:rPr b="0" lang="es-ES" sz="2000" strike="noStrike" u="none">
                <a:solidFill>
                  <a:srgbClr val="000000"/>
                </a:solidFill>
                <a:effectLst/>
                <a:uFillTx/>
                <a:latin typeface="Arial"/>
              </a:rPr>
              <a:t>Los mockups de teléfono son ilustraciones conceptuales generadas. La fotografía doméstica es conceptual generada. Captura administrativa: acceso público sin autenticar, 19 de octubre de 2026. No se muestran datos reales de clientes.</a:t>
            </a:r>
            <a:endParaRPr b="0" lang="es-ES" sz="2000" strike="noStrike" u="none">
              <a:solidFill>
                <a:srgbClr val="000000"/>
              </a:solidFill>
              <a:effectLst/>
              <a:uFillTx/>
              <a:latin typeface="Arial"/>
            </a:endParaRPr>
          </a:p>
        </p:txBody>
      </p:sp>
      <p:sp>
        <p:nvSpPr>
          <p:cNvPr id="315"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b="0" lang="es-ES"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trike="noStrike" u="none">
                <a:solidFill>
                  <a:schemeClr val="dk1"/>
                </a:solidFill>
                <a:effectLst/>
                <a:uFillTx/>
                <a:latin typeface="Aptos"/>
              </a:rPr>
              <a:t>Pulse para editar el formato del texto de título</a:t>
            </a:r>
            <a:endParaRPr b="0" lang="en-US" sz="3300" strike="noStrike" u="none">
              <a:solidFill>
                <a:schemeClr val="dk1"/>
              </a:solidFill>
              <a:effectLst/>
              <a:uFillTx/>
              <a:latin typeface="Aptos"/>
            </a:endParaRPr>
          </a:p>
        </p:txBody>
      </p:sp>
      <p:sp>
        <p:nvSpPr>
          <p:cNvPr id="1" name="PlaceHolder 2"/>
          <p:cNvSpPr>
            <a:spLocks noGrp="1"/>
          </p:cNvSpPr>
          <p:nvPr>
            <p:ph type="body"/>
          </p:nvPr>
        </p:nvSpPr>
        <p:spPr>
          <a:xfrm>
            <a:off x="685800" y="1905120"/>
            <a:ext cx="1082016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50" strike="noStrike" u="none">
                <a:solidFill>
                  <a:schemeClr val="dk1"/>
                </a:solidFill>
                <a:effectLst/>
                <a:uFillTx/>
                <a:latin typeface="Aptos"/>
              </a:rPr>
              <a:t>Pulse para editar el formato de texto del esquema</a:t>
            </a:r>
            <a:endParaRPr b="0" lang="en-US" sz="225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250" strike="noStrike" u="none">
                <a:solidFill>
                  <a:schemeClr val="dk1"/>
                </a:solidFill>
                <a:effectLst/>
                <a:uFillTx/>
                <a:latin typeface="Aptos"/>
              </a:rPr>
              <a:t>Segundo nivel del esquema</a:t>
            </a:r>
            <a:endParaRPr b="0" lang="en-US" sz="225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2250" strike="noStrike" u="none">
                <a:solidFill>
                  <a:schemeClr val="dk1"/>
                </a:solidFill>
                <a:effectLst/>
                <a:uFillTx/>
                <a:latin typeface="Aptos"/>
              </a:rPr>
              <a:t>Tercer nivel del esquema</a:t>
            </a:r>
            <a:endParaRPr b="0" lang="en-US" sz="225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2250" strike="noStrike" u="none">
                <a:solidFill>
                  <a:schemeClr val="dk1"/>
                </a:solidFill>
                <a:effectLst/>
                <a:uFillTx/>
                <a:latin typeface="Aptos"/>
              </a:rPr>
              <a:t>Cuarto nivel del esquema</a:t>
            </a:r>
            <a:endParaRPr b="0" lang="en-US" sz="225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Quinto nivel del esquema</a:t>
            </a:r>
            <a:endParaRPr b="0" lang="en-US" sz="225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Sexto nivel del esquema</a:t>
            </a:r>
            <a:endParaRPr b="0" lang="en-US" sz="225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Séptimo nivel del esquema</a:t>
            </a:r>
            <a:endParaRPr b="0" lang="en-US" sz="2250" strike="noStrike" u="non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19320" y="2857680"/>
            <a:ext cx="9753120" cy="1142640"/>
          </a:xfrm>
          <a:prstGeom prst="rect">
            <a:avLst/>
          </a:prstGeom>
          <a:noFill/>
          <a:ln w="0">
            <a:noFill/>
          </a:ln>
        </p:spPr>
        <p:txBody>
          <a:bodyPr lIns="0" rIns="0" tIns="0" bIns="0" anchor="ctr">
            <a:normAutofit lnSpcReduction="9999"/>
          </a:bodyPr>
          <a:p>
            <a:pPr indent="0">
              <a:lnSpc>
                <a:spcPct val="90000"/>
              </a:lnSpc>
              <a:buNone/>
            </a:pPr>
            <a:r>
              <a:rPr b="0" lang="en-US" sz="4200" strike="noStrike" u="none">
                <a:solidFill>
                  <a:schemeClr val="dk1"/>
                </a:solidFill>
                <a:effectLst/>
                <a:uFillTx/>
                <a:latin typeface="Aptos"/>
              </a:rPr>
              <a:t>Pulse para editar el formato del texto de título</a:t>
            </a:r>
            <a:endParaRPr b="0" lang="en-US" sz="4200" strike="noStrike" u="non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trike="noStrike" u="none">
                <a:solidFill>
                  <a:schemeClr val="dk1"/>
                </a:solidFill>
                <a:effectLst/>
                <a:uFillTx/>
                <a:latin typeface="Aptos"/>
              </a:rPr>
              <a:t>Pulse para editar el formato del texto de título</a:t>
            </a:r>
            <a:endParaRPr b="0" lang="en-US" sz="3300" strike="noStrike" u="none">
              <a:solidFill>
                <a:schemeClr val="dk1"/>
              </a:solidFill>
              <a:effectLst/>
              <a:uFillTx/>
              <a:latin typeface="Aptos"/>
            </a:endParaRPr>
          </a:p>
        </p:txBody>
      </p:sp>
      <p:sp>
        <p:nvSpPr>
          <p:cNvPr id="4" name="PlaceHolder 2"/>
          <p:cNvSpPr>
            <a:spLocks noGrp="1"/>
          </p:cNvSpPr>
          <p:nvPr>
            <p:ph type="body"/>
          </p:nvPr>
        </p:nvSpPr>
        <p:spPr>
          <a:xfrm>
            <a:off x="68580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trike="noStrike" u="none">
                <a:solidFill>
                  <a:schemeClr val="dk1"/>
                </a:solidFill>
                <a:effectLst/>
                <a:uFillTx/>
                <a:latin typeface="Aptos"/>
              </a:rPr>
              <a:t>Pulse para editar el formato de texto del esquema</a:t>
            </a:r>
            <a:endParaRPr b="0" lang="en-US" sz="21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100" strike="noStrike" u="none">
                <a:solidFill>
                  <a:schemeClr val="dk1"/>
                </a:solidFill>
                <a:effectLst/>
                <a:uFillTx/>
                <a:latin typeface="Aptos"/>
              </a:rPr>
              <a:t>Segundo nivel del esquema</a:t>
            </a:r>
            <a:endParaRPr b="0" lang="en-US" sz="21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2100" strike="noStrike" u="none">
                <a:solidFill>
                  <a:schemeClr val="dk1"/>
                </a:solidFill>
                <a:effectLst/>
                <a:uFillTx/>
                <a:latin typeface="Aptos"/>
              </a:rPr>
              <a:t>Tercer nivel del esquema</a:t>
            </a:r>
            <a:endParaRPr b="0" lang="en-US" sz="21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2100" strike="noStrike" u="none">
                <a:solidFill>
                  <a:schemeClr val="dk1"/>
                </a:solidFill>
                <a:effectLst/>
                <a:uFillTx/>
                <a:latin typeface="Aptos"/>
              </a:rPr>
              <a:t>Cuarto nivel del esquema</a:t>
            </a:r>
            <a:endParaRPr b="0" lang="en-US" sz="21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Quinto nivel del esquema</a:t>
            </a:r>
            <a:endParaRPr b="0" lang="en-US" sz="21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Sexto nivel del esquema</a:t>
            </a:r>
            <a:endParaRPr b="0" lang="en-US" sz="21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Séptimo nivel del esquema</a:t>
            </a:r>
            <a:endParaRPr b="0" lang="en-US" sz="2100" strike="noStrike" u="none">
              <a:solidFill>
                <a:schemeClr val="dk1"/>
              </a:solidFill>
              <a:effectLst/>
              <a:uFillTx/>
              <a:latin typeface="Aptos"/>
            </a:endParaRPr>
          </a:p>
        </p:txBody>
      </p:sp>
      <p:sp>
        <p:nvSpPr>
          <p:cNvPr id="5" name="PlaceHolder 3"/>
          <p:cNvSpPr>
            <a:spLocks noGrp="1"/>
          </p:cNvSpPr>
          <p:nvPr>
            <p:ph type="body"/>
          </p:nvPr>
        </p:nvSpPr>
        <p:spPr>
          <a:xfrm>
            <a:off x="647712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trike="noStrike" u="none">
                <a:solidFill>
                  <a:schemeClr val="dk1"/>
                </a:solidFill>
                <a:effectLst/>
                <a:uFillTx/>
                <a:latin typeface="Aptos"/>
              </a:rPr>
              <a:t>Pulse para editar el formato de texto del esquema</a:t>
            </a:r>
            <a:endParaRPr b="0" lang="en-US" sz="21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100" strike="noStrike" u="none">
                <a:solidFill>
                  <a:schemeClr val="dk1"/>
                </a:solidFill>
                <a:effectLst/>
                <a:uFillTx/>
                <a:latin typeface="Aptos"/>
              </a:rPr>
              <a:t>Segundo nivel del esquema</a:t>
            </a:r>
            <a:endParaRPr b="0" lang="en-US" sz="21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2100" strike="noStrike" u="none">
                <a:solidFill>
                  <a:schemeClr val="dk1"/>
                </a:solidFill>
                <a:effectLst/>
                <a:uFillTx/>
                <a:latin typeface="Aptos"/>
              </a:rPr>
              <a:t>Tercer nivel del esquema</a:t>
            </a:r>
            <a:endParaRPr b="0" lang="en-US" sz="21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2100" strike="noStrike" u="none">
                <a:solidFill>
                  <a:schemeClr val="dk1"/>
                </a:solidFill>
                <a:effectLst/>
                <a:uFillTx/>
                <a:latin typeface="Aptos"/>
              </a:rPr>
              <a:t>Cuarto nivel del esquema</a:t>
            </a:r>
            <a:endParaRPr b="0" lang="en-US" sz="21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Quinto nivel del esquema</a:t>
            </a:r>
            <a:endParaRPr b="0" lang="en-US" sz="21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Sexto nivel del esquema</a:t>
            </a:r>
            <a:endParaRPr b="0" lang="en-US" sz="21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100" strike="noStrike" u="none">
                <a:solidFill>
                  <a:schemeClr val="dk1"/>
                </a:solidFill>
                <a:effectLst/>
                <a:uFillTx/>
                <a:latin typeface="Aptos"/>
              </a:rPr>
              <a:t>Séptimo nivel del esquema</a:t>
            </a:r>
            <a:endParaRPr b="0" lang="en-US" sz="2100" strike="noStrike" u="none">
              <a:solidFill>
                <a:schemeClr val="dk1"/>
              </a:solidFill>
              <a:effectLst/>
              <a:uFillTx/>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trike="noStrike" u="none">
                <a:solidFill>
                  <a:schemeClr val="dk1"/>
                </a:solidFill>
                <a:effectLst/>
                <a:uFillTx/>
                <a:latin typeface="Aptos"/>
              </a:rPr>
              <a:t>Pulse para editar el formato del texto de título</a:t>
            </a:r>
            <a:endParaRPr b="0" lang="en-US" sz="3300" strike="noStrike" u="none">
              <a:solidFill>
                <a:schemeClr val="dk1"/>
              </a:solidFill>
              <a:effectLst/>
              <a:uFillTx/>
              <a:latin typeface="Aptos"/>
            </a:endParaRPr>
          </a:p>
        </p:txBody>
      </p:sp>
      <p:sp>
        <p:nvSpPr>
          <p:cNvPr id="7" name="PlaceHolder 2"/>
          <p:cNvSpPr>
            <a:spLocks noGrp="1"/>
          </p:cNvSpPr>
          <p:nvPr>
            <p:ph type="body"/>
          </p:nvPr>
        </p:nvSpPr>
        <p:spPr>
          <a:xfrm>
            <a:off x="68580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50" strike="noStrike" u="none">
                <a:solidFill>
                  <a:schemeClr val="dk1"/>
                </a:solidFill>
                <a:effectLst/>
                <a:uFillTx/>
                <a:latin typeface="Aptos"/>
              </a:rPr>
              <a:t>Pulse para editar el formato de texto del esquema</a:t>
            </a:r>
            <a:endParaRPr b="0" lang="en-US" sz="225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250" strike="noStrike" u="none">
                <a:solidFill>
                  <a:schemeClr val="dk1"/>
                </a:solidFill>
                <a:effectLst/>
                <a:uFillTx/>
                <a:latin typeface="Aptos"/>
              </a:rPr>
              <a:t>Segundo nivel del esquema</a:t>
            </a:r>
            <a:endParaRPr b="0" lang="en-US" sz="225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2250" strike="noStrike" u="none">
                <a:solidFill>
                  <a:schemeClr val="dk1"/>
                </a:solidFill>
                <a:effectLst/>
                <a:uFillTx/>
                <a:latin typeface="Aptos"/>
              </a:rPr>
              <a:t>Tercer nivel del esquema</a:t>
            </a:r>
            <a:endParaRPr b="0" lang="en-US" sz="225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2250" strike="noStrike" u="none">
                <a:solidFill>
                  <a:schemeClr val="dk1"/>
                </a:solidFill>
                <a:effectLst/>
                <a:uFillTx/>
                <a:latin typeface="Aptos"/>
              </a:rPr>
              <a:t>Cuarto nivel del esquema</a:t>
            </a:r>
            <a:endParaRPr b="0" lang="en-US" sz="225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Quinto nivel del esquema</a:t>
            </a:r>
            <a:endParaRPr b="0" lang="en-US" sz="225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Sexto nivel del esquema</a:t>
            </a:r>
            <a:endParaRPr b="0" lang="en-US" sz="225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250" strike="noStrike" u="none">
                <a:solidFill>
                  <a:schemeClr val="dk1"/>
                </a:solidFill>
                <a:effectLst/>
                <a:uFillTx/>
                <a:latin typeface="Aptos"/>
              </a:rPr>
              <a:t>Séptimo nivel del esquema</a:t>
            </a:r>
            <a:endParaRPr b="0" lang="en-US" sz="2250" strike="noStrike" u="non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nSpc>
                <a:spcPct val="90000"/>
              </a:lnSpc>
              <a:buNone/>
            </a:pPr>
            <a:r>
              <a:rPr b="0" lang="en-US" sz="4400" strike="noStrike" u="none">
                <a:solidFill>
                  <a:schemeClr val="dk1"/>
                </a:solidFill>
                <a:effectLst/>
                <a:uFillTx/>
                <a:latin typeface="Aptos"/>
              </a:rPr>
              <a:t>Pulse para editar el formato del texto de título</a:t>
            </a:r>
            <a:endParaRPr b="0" lang="en-US" sz="4400" strike="noStrike" u="none">
              <a:solidFill>
                <a:schemeClr val="dk1"/>
              </a:solidFill>
              <a:effectLst/>
              <a:uFillTx/>
              <a:latin typeface="Aptos"/>
            </a:endParaRPr>
          </a:p>
        </p:txBody>
      </p:sp>
      <p:sp>
        <p:nvSpPr>
          <p:cNvPr id="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Aptos"/>
              </a:rPr>
              <a:t>Pulse para editar el formato de texto del esquema</a:t>
            </a:r>
            <a:endParaRPr b="0" lang="en-US" sz="2800" strike="noStrike" u="none">
              <a:solidFill>
                <a:schemeClr val="dk1"/>
              </a:solidFill>
              <a:effectLst/>
              <a:uFillTx/>
              <a:latin typeface="Aptos"/>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Aptos"/>
              </a:rPr>
              <a:t>Segundo nivel del esquema</a:t>
            </a:r>
            <a:endParaRPr b="0" lang="en-US" sz="2000" strike="noStrike" u="none">
              <a:solidFill>
                <a:schemeClr val="dk1"/>
              </a:solidFill>
              <a:effectLst/>
              <a:uFillTx/>
              <a:latin typeface="Aptos"/>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Aptos"/>
              </a:rPr>
              <a:t>Tercer nivel del esquema</a:t>
            </a:r>
            <a:endParaRPr b="0" lang="en-US" sz="1800" strike="noStrike" u="none">
              <a:solidFill>
                <a:schemeClr val="dk1"/>
              </a:solidFill>
              <a:effectLst/>
              <a:uFillTx/>
              <a:latin typeface="Aptos"/>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Aptos"/>
              </a:rPr>
              <a:t>Cuarto nivel del esquema</a:t>
            </a:r>
            <a:endParaRPr b="0" lang="en-US" sz="1800" strike="noStrike" u="none">
              <a:solidFill>
                <a:schemeClr val="dk1"/>
              </a:solidFill>
              <a:effectLst/>
              <a:uFillTx/>
              <a:latin typeface="Aptos"/>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Quinto nivel del esquema</a:t>
            </a:r>
            <a:endParaRPr b="0" lang="en-US" sz="2000" strike="noStrike" u="none">
              <a:solidFill>
                <a:schemeClr val="dk1"/>
              </a:solidFill>
              <a:effectLst/>
              <a:uFillTx/>
              <a:latin typeface="Aptos"/>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Sexto nivel del esquema</a:t>
            </a:r>
            <a:endParaRPr b="0" lang="en-US" sz="2000" strike="noStrike" u="none">
              <a:solidFill>
                <a:schemeClr val="dk1"/>
              </a:solidFill>
              <a:effectLst/>
              <a:uFillTx/>
              <a:latin typeface="Aptos"/>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Aptos"/>
              </a:rPr>
              <a:t>Séptimo nivel del esquema</a:t>
            </a:r>
            <a:endParaRPr b="0" lang="en-US" sz="2000" strike="noStrike" u="none">
              <a:solidFill>
                <a:schemeClr val="dk1"/>
              </a:solidFill>
              <a:effectLst/>
              <a:uFillTx/>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1219320" y="2590920"/>
            <a:ext cx="9753120" cy="990360"/>
          </a:xfrm>
          <a:prstGeom prst="rect">
            <a:avLst/>
          </a:prstGeom>
          <a:noFill/>
          <a:ln w="0">
            <a:noFill/>
          </a:ln>
        </p:spPr>
        <p:txBody>
          <a:bodyPr lIns="0" rIns="0" tIns="0" bIns="0" anchor="ctr">
            <a:normAutofit fontScale="92500" lnSpcReduction="19999"/>
          </a:bodyPr>
          <a:p>
            <a:pPr indent="0">
              <a:lnSpc>
                <a:spcPct val="90000"/>
              </a:lnSpc>
              <a:buNone/>
            </a:pPr>
            <a:r>
              <a:rPr b="0" lang="en-US" sz="4800" strike="noStrike" u="none">
                <a:solidFill>
                  <a:schemeClr val="dk1"/>
                </a:solidFill>
                <a:effectLst/>
                <a:uFillTx/>
                <a:latin typeface="Aptos"/>
              </a:rPr>
              <a:t>Pulse para editar el formato del texto de título</a:t>
            </a:r>
            <a:endParaRPr b="0" lang="en-US" sz="4800" strike="noStrike" u="non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jpeg"/><Relationship Id="rId3" Type="http://schemas.openxmlformats.org/officeDocument/2006/relationships/slideLayout" Target="../slideLayouts/slideLayout5.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5.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slideLayout" Target="../slideLayouts/slideLayout5.xml"/><Relationship Id="rId1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png"/><Relationship Id="rId3" Type="http://schemas.openxmlformats.org/officeDocument/2006/relationships/slideLayout" Target="../slideLayouts/slideLayout5.xml"/><Relationship Id="rId4"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sp>
        <p:nvSpPr>
          <p:cNvPr id="17" name=""/>
          <p:cNvSpPr/>
          <p:nvPr/>
        </p:nvSpPr>
        <p:spPr>
          <a:xfrm>
            <a:off x="7858080" y="0"/>
            <a:ext cx="4333680" cy="6857640"/>
          </a:xfrm>
          <a:prstGeom prst="rect">
            <a:avLst/>
          </a:prstGeom>
          <a:solidFill>
            <a:srgbClr val="f4f7fa"/>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pic>
        <p:nvPicPr>
          <p:cNvPr id="18" name="" descr=""/>
          <p:cNvPicPr/>
          <p:nvPr/>
        </p:nvPicPr>
        <p:blipFill>
          <a:blip r:embed="rId1"/>
          <a:stretch/>
        </p:blipFill>
        <p:spPr>
          <a:xfrm>
            <a:off x="609480" y="542880"/>
            <a:ext cx="723600" cy="723600"/>
          </a:xfrm>
          <a:prstGeom prst="rect">
            <a:avLst/>
          </a:prstGeom>
          <a:noFill/>
          <a:ln w="0">
            <a:noFill/>
          </a:ln>
        </p:spPr>
      </p:pic>
      <p:sp>
        <p:nvSpPr>
          <p:cNvPr id="19" name="text-1"/>
          <p:cNvSpPr/>
          <p:nvPr/>
        </p:nvSpPr>
        <p:spPr>
          <a:xfrm>
            <a:off x="609480" y="1838160"/>
            <a:ext cx="7238520" cy="952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4730" strike="noStrike" u="none">
                <a:solidFill>
                  <a:srgbClr val="ffffff"/>
                </a:solidFill>
                <a:effectLst/>
                <a:uFillTx/>
                <a:latin typeface="DejaVu Sans"/>
                <a:ea typeface="DejaVu Sans"/>
              </a:rPr>
              <a:t>HIDRO-MEJORA</a:t>
            </a:r>
            <a:endParaRPr b="0" lang="en-US" sz="4730" strike="noStrike" u="none">
              <a:solidFill>
                <a:srgbClr val="ffffff"/>
              </a:solidFill>
              <a:effectLst/>
              <a:uFillTx/>
              <a:latin typeface="Arial"/>
            </a:endParaRPr>
          </a:p>
        </p:txBody>
      </p:sp>
      <p:sp>
        <p:nvSpPr>
          <p:cNvPr id="20" name="text-2"/>
          <p:cNvSpPr/>
          <p:nvPr/>
        </p:nvSpPr>
        <p:spPr>
          <a:xfrm>
            <a:off x="609480" y="2981160"/>
            <a:ext cx="6667200" cy="1285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450" strike="noStrike" u="none">
                <a:solidFill>
                  <a:srgbClr val="ffffff"/>
                </a:solidFill>
                <a:effectLst/>
                <a:uFillTx/>
                <a:latin typeface="DejaVu Sans"/>
                <a:ea typeface="DejaVu Sans"/>
              </a:rPr>
              <a:t>Tu suministro,</a:t>
            </a:r>
            <a:endParaRPr b="0" lang="en-US" sz="3450" strike="noStrike" u="none">
              <a:solidFill>
                <a:srgbClr val="ffffff"/>
              </a:solidFill>
              <a:effectLst/>
              <a:uFillTx/>
              <a:latin typeface="Arial"/>
            </a:endParaRPr>
          </a:p>
          <a:p>
            <a:pPr>
              <a:lnSpc>
                <a:spcPct val="100000"/>
              </a:lnSpc>
            </a:pPr>
            <a:r>
              <a:rPr b="0" lang="en-US" sz="3450" strike="noStrike" u="none">
                <a:solidFill>
                  <a:srgbClr val="ffffff"/>
                </a:solidFill>
                <a:effectLst/>
                <a:uFillTx/>
                <a:latin typeface="DejaVu Sans"/>
                <a:ea typeface="DejaVu Sans"/>
              </a:rPr>
              <a:t>a tu alcance</a:t>
            </a:r>
            <a:endParaRPr b="0" lang="en-US" sz="3450" strike="noStrike" u="none">
              <a:solidFill>
                <a:srgbClr val="ffffff"/>
              </a:solidFill>
              <a:effectLst/>
              <a:uFillTx/>
              <a:latin typeface="Arial"/>
            </a:endParaRPr>
          </a:p>
        </p:txBody>
      </p:sp>
      <p:sp>
        <p:nvSpPr>
          <p:cNvPr id="21" name="text-3"/>
          <p:cNvSpPr/>
          <p:nvPr/>
        </p:nvSpPr>
        <p:spPr>
          <a:xfrm>
            <a:off x="609480" y="4524480"/>
            <a:ext cx="666720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a9dbe5"/>
                </a:solidFill>
                <a:effectLst/>
                <a:uFillTx/>
                <a:latin typeface="DejaVu Sans"/>
                <a:ea typeface="DejaVu Sans"/>
              </a:rPr>
              <a:t>Aplicación Android y gestión web</a:t>
            </a:r>
            <a:endParaRPr b="0" lang="en-US" sz="1950" strike="noStrike" u="none">
              <a:solidFill>
                <a:srgbClr val="ffffff"/>
              </a:solidFill>
              <a:effectLst/>
              <a:uFillTx/>
              <a:latin typeface="Arial"/>
            </a:endParaRPr>
          </a:p>
        </p:txBody>
      </p:sp>
      <p:sp>
        <p:nvSpPr>
          <p:cNvPr id="22" name="text-4"/>
          <p:cNvSpPr/>
          <p:nvPr/>
        </p:nvSpPr>
        <p:spPr>
          <a:xfrm>
            <a:off x="609480" y="5038560"/>
            <a:ext cx="685764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a9dbe5"/>
                </a:solidFill>
                <a:effectLst/>
                <a:uFillTx/>
                <a:latin typeface="DejaVu Sans"/>
                <a:ea typeface="DejaVu Sans"/>
              </a:rPr>
              <a:t>Software I   ·   Ingeniería de Sistemas</a:t>
            </a:r>
            <a:endParaRPr b="0" lang="en-US" sz="1430" strike="noStrike" u="none">
              <a:solidFill>
                <a:srgbClr val="ffffff"/>
              </a:solidFill>
              <a:effectLst/>
              <a:uFillTx/>
              <a:latin typeface="Arial"/>
            </a:endParaRPr>
          </a:p>
        </p:txBody>
      </p:sp>
      <p:pic>
        <p:nvPicPr>
          <p:cNvPr id="23" name="" descr=""/>
          <p:cNvPicPr/>
          <p:nvPr/>
        </p:nvPicPr>
        <p:blipFill>
          <a:blip r:embed="rId2"/>
          <a:stretch/>
        </p:blipFill>
        <p:spPr>
          <a:xfrm>
            <a:off x="8136000" y="714240"/>
            <a:ext cx="3587400" cy="5381280"/>
          </a:xfrm>
          <a:prstGeom prst="rect">
            <a:avLst/>
          </a:prstGeom>
          <a:noFill/>
          <a:ln w="0">
            <a:noFill/>
          </a:ln>
        </p:spPr>
      </p:pic>
      <p:sp>
        <p:nvSpPr>
          <p:cNvPr id="24" name="text-5"/>
          <p:cNvSpPr/>
          <p:nvPr/>
        </p:nvSpPr>
        <p:spPr>
          <a:xfrm>
            <a:off x="8381880" y="6114960"/>
            <a:ext cx="3047760" cy="2376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130" strike="noStrike" u="none">
                <a:solidFill>
                  <a:srgbClr val="526879"/>
                </a:solidFill>
                <a:effectLst/>
                <a:uFillTx/>
                <a:latin typeface="DejaVu Sans"/>
                <a:ea typeface="DejaVu Sans"/>
              </a:rPr>
              <a:t>Mockup conceptual</a:t>
            </a:r>
            <a:endParaRPr b="0" lang="en-US" sz="1130" strike="noStrike" u="none">
              <a:solidFill>
                <a:srgbClr val="ffffff"/>
              </a:solidFill>
              <a:effectLst/>
              <a:uFillTx/>
              <a:latin typeface="Arial"/>
            </a:endParaRPr>
          </a:p>
        </p:txBody>
      </p:sp>
      <p:sp>
        <p:nvSpPr>
          <p:cNvPr id="25" name="text-6"/>
          <p:cNvSpPr/>
          <p:nvPr/>
        </p:nvSpPr>
        <p:spPr>
          <a:xfrm>
            <a:off x="609480" y="5724360"/>
            <a:ext cx="6857640" cy="542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50" strike="noStrike" u="none">
                <a:solidFill>
                  <a:srgbClr val="a9dbe5"/>
                </a:solidFill>
                <a:effectLst/>
                <a:uFillTx/>
                <a:latin typeface="DejaVu Sans"/>
                <a:ea typeface="DejaVu Sans"/>
              </a:rPr>
              <a:t>Deivis Ancco · Saul Chauca</a:t>
            </a:r>
            <a:endParaRPr b="0" lang="en-US" sz="1350" strike="noStrike" u="none">
              <a:solidFill>
                <a:srgbClr val="ffffff"/>
              </a:solidFill>
              <a:effectLst/>
              <a:uFillTx/>
              <a:latin typeface="Arial"/>
            </a:endParaRPr>
          </a:p>
          <a:p>
            <a:pPr>
              <a:lnSpc>
                <a:spcPct val="100000"/>
              </a:lnSpc>
            </a:pPr>
            <a:r>
              <a:rPr b="0" lang="en-US" sz="1350" strike="noStrike" u="none">
                <a:solidFill>
                  <a:srgbClr val="a9dbe5"/>
                </a:solidFill>
                <a:effectLst/>
                <a:uFillTx/>
                <a:latin typeface="DejaVu Sans"/>
                <a:ea typeface="DejaVu Sans"/>
              </a:rPr>
              <a:t>Angelo Prado · Luis Rodriguez</a:t>
            </a:r>
            <a:endParaRPr b="0" lang="en-US" sz="1350" strike="noStrike" u="none">
              <a:solidFill>
                <a:srgbClr val="ffffff"/>
              </a:solidFill>
              <a:effectLst/>
              <a:uFillTx/>
              <a:latin typeface="Arial"/>
            </a:endParaRPr>
          </a:p>
        </p:txBody>
      </p:sp>
      <p:sp>
        <p:nvSpPr>
          <p:cNvPr id="26" name="text-7"/>
          <p:cNvSpPr/>
          <p:nvPr/>
        </p:nvSpPr>
        <p:spPr>
          <a:xfrm>
            <a:off x="609480" y="6486480"/>
            <a:ext cx="7048080" cy="228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Proyecto académico independiente de SEDAPAL</a:t>
            </a:r>
            <a:endParaRPr b="0" lang="en-US" sz="1050" strike="noStrike" u="none">
              <a:solidFill>
                <a:srgbClr val="ffffff"/>
              </a:solidFill>
              <a:effectLst/>
              <a:uFillTx/>
              <a:latin typeface="Arial"/>
            </a:endParaRP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text-0"/>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28" name="text-1"/>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02</a:t>
            </a:r>
            <a:endParaRPr b="0" lang="en-US" sz="1280" strike="noStrike" u="none">
              <a:solidFill>
                <a:srgbClr val="000000"/>
              </a:solidFill>
              <a:effectLst/>
              <a:uFillTx/>
              <a:latin typeface="Arial"/>
            </a:endParaRPr>
          </a:p>
        </p:txBody>
      </p:sp>
      <p:pic>
        <p:nvPicPr>
          <p:cNvPr id="29" name="" descr=""/>
          <p:cNvPicPr/>
          <p:nvPr/>
        </p:nvPicPr>
        <p:blipFill>
          <a:blip r:embed="rId1"/>
          <a:srcRect l="20559" t="0" r="20559" b="0"/>
          <a:stretch/>
        </p:blipFill>
        <p:spPr>
          <a:xfrm>
            <a:off x="5715000" y="0"/>
            <a:ext cx="6476760" cy="6190920"/>
          </a:xfrm>
          <a:prstGeom prst="rect">
            <a:avLst/>
          </a:prstGeom>
          <a:noFill/>
          <a:ln w="0">
            <a:noFill/>
          </a:ln>
        </p:spPr>
      </p:pic>
      <p:sp>
        <p:nvSpPr>
          <p:cNvPr id="30" name=""/>
          <p:cNvSpPr/>
          <p:nvPr/>
        </p:nvSpPr>
        <p:spPr>
          <a:xfrm>
            <a:off x="0" y="0"/>
            <a:ext cx="6000480" cy="6190920"/>
          </a:xfrm>
          <a:prstGeom prst="rect">
            <a:avLst/>
          </a:prstGeom>
          <a:solidFill>
            <a:srgbClr val="103e60"/>
          </a:solidFill>
          <a:ln w="0">
            <a:noFill/>
          </a:ln>
        </p:spPr>
        <p:style>
          <a:lnRef idx="0"/>
          <a:fillRef idx="0"/>
          <a:effectRef idx="0"/>
          <a:fontRef idx="minor"/>
        </p:style>
        <p:txBody>
          <a:bodyPr lIns="90000" rIns="90000" tIns="45000" bIns="45000" anchor="t">
            <a:noAutofit/>
          </a:bodyPr>
          <a:p>
            <a:endParaRPr b="0" lang="es-ES" sz="1800" strike="noStrike" u="none">
              <a:solidFill>
                <a:srgbClr val="ffffff"/>
              </a:solidFill>
              <a:effectLst/>
              <a:uFillTx/>
              <a:latin typeface="Arial"/>
            </a:endParaRPr>
          </a:p>
        </p:txBody>
      </p:sp>
      <p:sp>
        <p:nvSpPr>
          <p:cNvPr id="31" name="text-3"/>
          <p:cNvSpPr/>
          <p:nvPr/>
        </p:nvSpPr>
        <p:spPr>
          <a:xfrm>
            <a:off x="609480" y="619200"/>
            <a:ext cx="5143320" cy="1238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380" strike="noStrike" u="none">
                <a:solidFill>
                  <a:srgbClr val="ffffff"/>
                </a:solidFill>
                <a:effectLst/>
                <a:uFillTx/>
                <a:latin typeface="DejaVu Sans"/>
                <a:ea typeface="DejaVu Sans"/>
              </a:rPr>
              <a:t>Una gestión que</a:t>
            </a:r>
            <a:endParaRPr b="0" lang="en-US" sz="3380" strike="noStrike" u="none">
              <a:solidFill>
                <a:srgbClr val="000000"/>
              </a:solidFill>
              <a:effectLst/>
              <a:uFillTx/>
              <a:latin typeface="Arial"/>
            </a:endParaRPr>
          </a:p>
          <a:p>
            <a:pPr>
              <a:lnSpc>
                <a:spcPct val="100000"/>
              </a:lnSpc>
            </a:pPr>
            <a:r>
              <a:rPr b="1" lang="en-US" sz="3380" strike="noStrike" u="none">
                <a:solidFill>
                  <a:srgbClr val="ffffff"/>
                </a:solidFill>
                <a:effectLst/>
                <a:uFillTx/>
                <a:latin typeface="DejaVu Sans"/>
                <a:ea typeface="DejaVu Sans"/>
              </a:rPr>
              <a:t>pierde continuidad</a:t>
            </a:r>
            <a:endParaRPr b="0" lang="en-US" sz="3380" strike="noStrike" u="none">
              <a:solidFill>
                <a:srgbClr val="000000"/>
              </a:solidFill>
              <a:effectLst/>
              <a:uFillTx/>
              <a:latin typeface="Arial"/>
            </a:endParaRPr>
          </a:p>
        </p:txBody>
      </p:sp>
      <p:sp>
        <p:nvSpPr>
          <p:cNvPr id="32" name="text-4"/>
          <p:cNvSpPr/>
          <p:nvPr/>
        </p:nvSpPr>
        <p:spPr>
          <a:xfrm>
            <a:off x="609480" y="25052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a9dbe5"/>
                </a:solidFill>
                <a:effectLst/>
                <a:uFillTx/>
                <a:latin typeface="DejaVu Sans"/>
                <a:ea typeface="DejaVu Sans"/>
              </a:rPr>
              <a:t>01</a:t>
            </a:r>
            <a:endParaRPr b="0" lang="en-US" sz="1430" strike="noStrike" u="none">
              <a:solidFill>
                <a:srgbClr val="000000"/>
              </a:solidFill>
              <a:effectLst/>
              <a:uFillTx/>
              <a:latin typeface="Arial"/>
            </a:endParaRPr>
          </a:p>
        </p:txBody>
      </p:sp>
      <p:sp>
        <p:nvSpPr>
          <p:cNvPr id="33" name="text-5"/>
          <p:cNvSpPr/>
          <p:nvPr/>
        </p:nvSpPr>
        <p:spPr>
          <a:xfrm>
            <a:off x="1209600" y="2476440"/>
            <a:ext cx="43524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020" strike="noStrike" u="none">
                <a:solidFill>
                  <a:srgbClr val="ffffff"/>
                </a:solidFill>
                <a:effectLst/>
                <a:uFillTx/>
                <a:latin typeface="DejaVu Sans"/>
                <a:ea typeface="DejaVu Sans"/>
              </a:rPr>
              <a:t>Información dispersa</a:t>
            </a:r>
            <a:endParaRPr b="0" lang="en-US" sz="2020" strike="noStrike" u="none">
              <a:solidFill>
                <a:srgbClr val="000000"/>
              </a:solidFill>
              <a:effectLst/>
              <a:uFillTx/>
              <a:latin typeface="Arial"/>
            </a:endParaRPr>
          </a:p>
        </p:txBody>
      </p:sp>
      <p:sp>
        <p:nvSpPr>
          <p:cNvPr id="34" name="text-6"/>
          <p:cNvSpPr/>
          <p:nvPr/>
        </p:nvSpPr>
        <p:spPr>
          <a:xfrm>
            <a:off x="609480" y="34196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a9dbe5"/>
                </a:solidFill>
                <a:effectLst/>
                <a:uFillTx/>
                <a:latin typeface="DejaVu Sans"/>
                <a:ea typeface="DejaVu Sans"/>
              </a:rPr>
              <a:t>02</a:t>
            </a:r>
            <a:endParaRPr b="0" lang="en-US" sz="1430" strike="noStrike" u="none">
              <a:solidFill>
                <a:srgbClr val="000000"/>
              </a:solidFill>
              <a:effectLst/>
              <a:uFillTx/>
              <a:latin typeface="Arial"/>
            </a:endParaRPr>
          </a:p>
        </p:txBody>
      </p:sp>
      <p:sp>
        <p:nvSpPr>
          <p:cNvPr id="35" name="text-7"/>
          <p:cNvSpPr/>
          <p:nvPr/>
        </p:nvSpPr>
        <p:spPr>
          <a:xfrm>
            <a:off x="1209600" y="3390840"/>
            <a:ext cx="43524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Consultas repetidas</a:t>
            </a:r>
            <a:endParaRPr b="0" lang="en-US" sz="2020" strike="noStrike" u="none">
              <a:solidFill>
                <a:srgbClr val="000000"/>
              </a:solidFill>
              <a:effectLst/>
              <a:uFillTx/>
              <a:latin typeface="Arial"/>
            </a:endParaRPr>
          </a:p>
        </p:txBody>
      </p:sp>
      <p:sp>
        <p:nvSpPr>
          <p:cNvPr id="36" name="text-8"/>
          <p:cNvSpPr/>
          <p:nvPr/>
        </p:nvSpPr>
        <p:spPr>
          <a:xfrm>
            <a:off x="609480" y="43340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a9dbe5"/>
                </a:solidFill>
                <a:effectLst/>
                <a:uFillTx/>
                <a:latin typeface="DejaVu Sans"/>
                <a:ea typeface="DejaVu Sans"/>
              </a:rPr>
              <a:t>03</a:t>
            </a:r>
            <a:endParaRPr b="0" lang="en-US" sz="1430" strike="noStrike" u="none">
              <a:solidFill>
                <a:srgbClr val="000000"/>
              </a:solidFill>
              <a:effectLst/>
              <a:uFillTx/>
              <a:latin typeface="Arial"/>
            </a:endParaRPr>
          </a:p>
        </p:txBody>
      </p:sp>
      <p:sp>
        <p:nvSpPr>
          <p:cNvPr id="37" name="text-9"/>
          <p:cNvSpPr/>
          <p:nvPr/>
        </p:nvSpPr>
        <p:spPr>
          <a:xfrm>
            <a:off x="1209600" y="4305240"/>
            <a:ext cx="43524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Seguimiento poco visible</a:t>
            </a:r>
            <a:endParaRPr b="0" lang="en-US" sz="2020" strike="noStrike" u="none">
              <a:solidFill>
                <a:srgbClr val="000000"/>
              </a:solidFill>
              <a:effectLst/>
              <a:uFillTx/>
              <a:latin typeface="Arial"/>
            </a:endParaRPr>
          </a:p>
        </p:txBody>
      </p:sp>
      <p:sp>
        <p:nvSpPr>
          <p:cNvPr id="38" name="text-10"/>
          <p:cNvSpPr/>
          <p:nvPr/>
        </p:nvSpPr>
        <p:spPr>
          <a:xfrm>
            <a:off x="609480" y="5315040"/>
            <a:ext cx="4857480" cy="713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00" strike="noStrike" u="none">
                <a:solidFill>
                  <a:srgbClr val="a9dbe5"/>
                </a:solidFill>
                <a:effectLst/>
                <a:uFillTx/>
                <a:latin typeface="DejaVu Sans"/>
                <a:ea typeface="DejaVu Sans"/>
              </a:rPr>
              <a:t>“Ya lo reporté…</a:t>
            </a:r>
            <a:endParaRPr b="0" lang="en-US" sz="2100" strike="noStrike" u="none">
              <a:solidFill>
                <a:srgbClr val="000000"/>
              </a:solidFill>
              <a:effectLst/>
              <a:uFillTx/>
              <a:latin typeface="Arial"/>
            </a:endParaRPr>
          </a:p>
          <a:p>
            <a:pPr>
              <a:lnSpc>
                <a:spcPct val="100000"/>
              </a:lnSpc>
            </a:pPr>
            <a:r>
              <a:rPr b="0" lang="en-US" sz="2100" strike="noStrike" u="none">
                <a:solidFill>
                  <a:srgbClr val="a9dbe5"/>
                </a:solidFill>
                <a:effectLst/>
                <a:uFillTx/>
                <a:latin typeface="DejaVu Sans"/>
                <a:ea typeface="DejaVu Sans"/>
              </a:rPr>
              <a:t>¿en qué estado está?”</a:t>
            </a:r>
            <a:endParaRPr b="0" lang="en-US" sz="2100" strike="noStrike" u="none">
              <a:solidFill>
                <a:srgbClr val="000000"/>
              </a:solidFill>
              <a:effectLst/>
              <a:uFillTx/>
              <a:latin typeface="Arial"/>
            </a:endParaRPr>
          </a:p>
        </p:txBody>
      </p:sp>
      <p:sp>
        <p:nvSpPr>
          <p:cNvPr id="39" name="text-11"/>
          <p:cNvSpPr/>
          <p:nvPr/>
        </p:nvSpPr>
        <p:spPr>
          <a:xfrm>
            <a:off x="6143760" y="5981760"/>
            <a:ext cx="533376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980" strike="noStrike" u="none">
                <a:solidFill>
                  <a:srgbClr val="526879"/>
                </a:solidFill>
                <a:effectLst/>
                <a:uFillTx/>
                <a:latin typeface="DejaVu Sans"/>
                <a:ea typeface="DejaVu Sans"/>
              </a:rPr>
              <a:t>Escenario ilustrativo. Fotografía conceptual.</a:t>
            </a:r>
            <a:endParaRPr b="0" lang="en-US" sz="980" strike="noStrike" u="none">
              <a:solidFill>
                <a:srgbClr val="000000"/>
              </a:solidFill>
              <a:effectLst/>
              <a:uFillTx/>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Una plataforma, dos experiencias</a:t>
            </a:r>
            <a:endParaRPr b="0" lang="en-US" sz="3450" strike="noStrike" u="none">
              <a:solidFill>
                <a:srgbClr val="000000"/>
              </a:solidFill>
              <a:effectLst/>
              <a:uFillTx/>
              <a:latin typeface="Arial"/>
            </a:endParaRPr>
          </a:p>
        </p:txBody>
      </p:sp>
      <p:sp>
        <p:nvSpPr>
          <p:cNvPr id="41"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42"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03</a:t>
            </a:r>
            <a:endParaRPr b="0" lang="en-US" sz="1280" strike="noStrike" u="none">
              <a:solidFill>
                <a:srgbClr val="000000"/>
              </a:solidFill>
              <a:effectLst/>
              <a:uFillTx/>
              <a:latin typeface="Arial"/>
            </a:endParaRPr>
          </a:p>
        </p:txBody>
      </p:sp>
      <p:sp>
        <p:nvSpPr>
          <p:cNvPr id="43" name="text-3"/>
          <p:cNvSpPr/>
          <p:nvPr/>
        </p:nvSpPr>
        <p:spPr>
          <a:xfrm>
            <a:off x="609480" y="1514520"/>
            <a:ext cx="107629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trike="noStrike" u="none">
                <a:solidFill>
                  <a:srgbClr val="526879"/>
                </a:solidFill>
                <a:effectLst/>
                <a:uFillTx/>
                <a:latin typeface="DejaVu Sans"/>
                <a:ea typeface="DejaVu Sans"/>
              </a:rPr>
              <a:t>Un mismo servicio para dos roles</a:t>
            </a:r>
            <a:endParaRPr b="0" lang="en-US" sz="1870" strike="noStrike" u="none">
              <a:solidFill>
                <a:srgbClr val="000000"/>
              </a:solidFill>
              <a:effectLst/>
              <a:uFillTx/>
              <a:latin typeface="Arial"/>
            </a:endParaRPr>
          </a:p>
        </p:txBody>
      </p:sp>
      <p:pic>
        <p:nvPicPr>
          <p:cNvPr id="44" name="" descr=""/>
          <p:cNvPicPr/>
          <p:nvPr/>
        </p:nvPicPr>
        <p:blipFill>
          <a:blip r:embed="rId1"/>
          <a:stretch/>
        </p:blipFill>
        <p:spPr>
          <a:xfrm>
            <a:off x="650880" y="2085840"/>
            <a:ext cx="2507760" cy="3762000"/>
          </a:xfrm>
          <a:prstGeom prst="rect">
            <a:avLst/>
          </a:prstGeom>
          <a:noFill/>
          <a:ln w="0">
            <a:noFill/>
          </a:ln>
        </p:spPr>
      </p:pic>
      <p:pic>
        <p:nvPicPr>
          <p:cNvPr id="45" name="" descr=""/>
          <p:cNvPicPr/>
          <p:nvPr/>
        </p:nvPicPr>
        <p:blipFill>
          <a:blip r:embed="rId2"/>
          <a:stretch/>
        </p:blipFill>
        <p:spPr>
          <a:xfrm>
            <a:off x="5041080" y="2238480"/>
            <a:ext cx="5062320" cy="3476160"/>
          </a:xfrm>
          <a:prstGeom prst="rect">
            <a:avLst/>
          </a:prstGeom>
          <a:noFill/>
          <a:ln w="0">
            <a:noFill/>
          </a:ln>
        </p:spPr>
      </p:pic>
      <p:sp>
        <p:nvSpPr>
          <p:cNvPr id="46" name="text-4"/>
          <p:cNvSpPr/>
          <p:nvPr/>
        </p:nvSpPr>
        <p:spPr>
          <a:xfrm>
            <a:off x="743040" y="5819760"/>
            <a:ext cx="257148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50" strike="noStrike" u="none">
                <a:solidFill>
                  <a:srgbClr val="075d91"/>
                </a:solidFill>
                <a:effectLst/>
                <a:uFillTx/>
                <a:latin typeface="DejaVu Sans"/>
                <a:ea typeface="DejaVu Sans"/>
              </a:rPr>
              <a:t>Usuario Android</a:t>
            </a:r>
            <a:endParaRPr b="0" lang="en-US" sz="1650" strike="noStrike" u="none">
              <a:solidFill>
                <a:srgbClr val="000000"/>
              </a:solidFill>
              <a:effectLst/>
              <a:uFillTx/>
              <a:latin typeface="Arial"/>
            </a:endParaRPr>
          </a:p>
        </p:txBody>
      </p:sp>
      <p:sp>
        <p:nvSpPr>
          <p:cNvPr id="47" name="text-5"/>
          <p:cNvSpPr/>
          <p:nvPr/>
        </p:nvSpPr>
        <p:spPr>
          <a:xfrm>
            <a:off x="3867120" y="5819760"/>
            <a:ext cx="495252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650" strike="noStrike" u="none">
                <a:solidFill>
                  <a:srgbClr val="075d91"/>
                </a:solidFill>
                <a:effectLst/>
                <a:uFillTx/>
                <a:latin typeface="DejaVu Sans"/>
                <a:ea typeface="DejaVu Sans"/>
              </a:rPr>
              <a:t>Administrador web</a:t>
            </a:r>
            <a:endParaRPr b="0" lang="en-US" sz="1650" strike="noStrike" u="none">
              <a:solidFill>
                <a:srgbClr val="000000"/>
              </a:solidFill>
              <a:effectLst/>
              <a:uFillTx/>
              <a:latin typeface="Arial"/>
            </a:endParaRPr>
          </a:p>
        </p:txBody>
      </p:sp>
      <p:sp>
        <p:nvSpPr>
          <p:cNvPr id="48" name="text-6"/>
          <p:cNvSpPr/>
          <p:nvPr/>
        </p:nvSpPr>
        <p:spPr>
          <a:xfrm>
            <a:off x="609480" y="1847880"/>
            <a:ext cx="10953360" cy="3236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580" strike="noStrike" u="none">
                <a:solidFill>
                  <a:srgbClr val="103e60"/>
                </a:solidFill>
                <a:effectLst/>
                <a:uFillTx/>
                <a:latin typeface="DejaVu Sans"/>
                <a:ea typeface="DejaVu Sans"/>
              </a:rPr>
              <a:t>Consulta centralizada    Seguimiento de gestiones    Información compartida</a:t>
            </a:r>
            <a:endParaRPr b="0" lang="en-US" sz="1580" strike="noStrike" u="none">
              <a:solidFill>
                <a:srgbClr val="000000"/>
              </a:solidFill>
              <a:effectLst/>
              <a:uFillTx/>
              <a:latin typeface="Arial"/>
            </a:endParaRPr>
          </a:p>
        </p:txBody>
      </p:sp>
      <p:sp>
        <p:nvSpPr>
          <p:cNvPr id="49" name="text-7"/>
          <p:cNvSpPr/>
          <p:nvPr/>
        </p:nvSpPr>
        <p:spPr>
          <a:xfrm>
            <a:off x="609480" y="6143760"/>
            <a:ext cx="108583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Teléfono conceptual. Captura real del acceso administrativo publicado.</a:t>
            </a:r>
            <a:endParaRPr b="0" lang="en-US" sz="1050" strike="noStrike" u="none">
              <a:solidFill>
                <a:srgbClr val="000000"/>
              </a:solidFill>
              <a:effectLst/>
              <a:uFillTx/>
              <a:latin typeface="Arial"/>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sp>
        <p:nvSpPr>
          <p:cNvPr id="50"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ffffff"/>
                </a:solidFill>
                <a:effectLst/>
                <a:uFillTx/>
                <a:latin typeface="DejaVu Sans"/>
                <a:ea typeface="DejaVu Sans"/>
              </a:rPr>
              <a:t>Objetivo y usuarios</a:t>
            </a:r>
            <a:endParaRPr b="0" lang="en-US" sz="3450" strike="noStrike" u="none">
              <a:solidFill>
                <a:srgbClr val="ffffff"/>
              </a:solidFill>
              <a:effectLst/>
              <a:uFillTx/>
              <a:latin typeface="Arial"/>
            </a:endParaRPr>
          </a:p>
        </p:txBody>
      </p:sp>
      <p:sp>
        <p:nvSpPr>
          <p:cNvPr id="51"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HIDRO-MEJORA   /   Proyecto universitario</a:t>
            </a:r>
            <a:endParaRPr b="0" lang="en-US" sz="1050" strike="noStrike" u="none">
              <a:solidFill>
                <a:srgbClr val="ffffff"/>
              </a:solidFill>
              <a:effectLst/>
              <a:uFillTx/>
              <a:latin typeface="Arial"/>
            </a:endParaRPr>
          </a:p>
        </p:txBody>
      </p:sp>
      <p:sp>
        <p:nvSpPr>
          <p:cNvPr id="52"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a9dbe5"/>
                </a:solidFill>
                <a:effectLst/>
                <a:uFillTx/>
                <a:latin typeface="DejaVu Sans"/>
                <a:ea typeface="DejaVu Sans"/>
              </a:rPr>
              <a:t>04</a:t>
            </a:r>
            <a:endParaRPr b="0" lang="en-US" sz="1280" strike="noStrike" u="none">
              <a:solidFill>
                <a:srgbClr val="ffffff"/>
              </a:solidFill>
              <a:effectLst/>
              <a:uFillTx/>
              <a:latin typeface="Arial"/>
            </a:endParaRPr>
          </a:p>
        </p:txBody>
      </p:sp>
      <p:sp>
        <p:nvSpPr>
          <p:cNvPr id="53" name="text-3"/>
          <p:cNvSpPr/>
          <p:nvPr/>
        </p:nvSpPr>
        <p:spPr>
          <a:xfrm>
            <a:off x="609480" y="1714680"/>
            <a:ext cx="10572480" cy="904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trike="noStrike" u="none">
                <a:solidFill>
                  <a:srgbClr val="ffffff"/>
                </a:solidFill>
                <a:effectLst/>
                <a:uFillTx/>
                <a:latin typeface="DejaVu Sans"/>
                <a:ea typeface="DejaVu Sans"/>
              </a:rPr>
              <a:t>Centralizar la consulta del suministro</a:t>
            </a:r>
            <a:endParaRPr b="0" lang="en-US" sz="2620" strike="noStrike" u="none">
              <a:solidFill>
                <a:srgbClr val="ffffff"/>
              </a:solidFill>
              <a:effectLst/>
              <a:uFillTx/>
              <a:latin typeface="Arial"/>
            </a:endParaRPr>
          </a:p>
          <a:p>
            <a:pPr>
              <a:lnSpc>
                <a:spcPct val="100000"/>
              </a:lnSpc>
            </a:pPr>
            <a:r>
              <a:rPr b="0" lang="en-US" sz="2620" strike="noStrike" u="none">
                <a:solidFill>
                  <a:srgbClr val="ffffff"/>
                </a:solidFill>
                <a:effectLst/>
                <a:uFillTx/>
                <a:latin typeface="DejaVu Sans"/>
                <a:ea typeface="DejaVu Sans"/>
              </a:rPr>
              <a:t>y la gestión de la atención</a:t>
            </a:r>
            <a:endParaRPr b="0" lang="en-US" sz="2620" strike="noStrike" u="none">
              <a:solidFill>
                <a:srgbClr val="ffffff"/>
              </a:solidFill>
              <a:effectLst/>
              <a:uFillTx/>
              <a:latin typeface="Arial"/>
            </a:endParaRPr>
          </a:p>
        </p:txBody>
      </p:sp>
      <p:sp>
        <p:nvSpPr>
          <p:cNvPr id="54" name="text-4"/>
          <p:cNvSpPr/>
          <p:nvPr/>
        </p:nvSpPr>
        <p:spPr>
          <a:xfrm>
            <a:off x="609480" y="3209760"/>
            <a:ext cx="466704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a9dbe5"/>
                </a:solidFill>
                <a:effectLst/>
                <a:uFillTx/>
                <a:latin typeface="DejaVu Sans"/>
                <a:ea typeface="DejaVu Sans"/>
              </a:rPr>
              <a:t>USUARIO DEL SERVICIO</a:t>
            </a:r>
            <a:endParaRPr b="0" lang="en-US" sz="1430" strike="noStrike" u="none">
              <a:solidFill>
                <a:srgbClr val="ffffff"/>
              </a:solidFill>
              <a:effectLst/>
              <a:uFillTx/>
              <a:latin typeface="Arial"/>
            </a:endParaRPr>
          </a:p>
        </p:txBody>
      </p:sp>
      <p:sp>
        <p:nvSpPr>
          <p:cNvPr id="55" name="text-5"/>
          <p:cNvSpPr/>
          <p:nvPr/>
        </p:nvSpPr>
        <p:spPr>
          <a:xfrm>
            <a:off x="609480" y="3753000"/>
            <a:ext cx="4857480" cy="1047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320" strike="noStrike" u="none">
                <a:solidFill>
                  <a:srgbClr val="ffffff"/>
                </a:solidFill>
                <a:effectLst/>
                <a:uFillTx/>
                <a:latin typeface="DejaVu Sans"/>
                <a:ea typeface="DejaVu Sans"/>
              </a:rPr>
              <a:t>Consultar sus registros</a:t>
            </a:r>
            <a:endParaRPr b="0" lang="en-US" sz="2320" strike="noStrike" u="none">
              <a:solidFill>
                <a:srgbClr val="ffffff"/>
              </a:solidFill>
              <a:effectLst/>
              <a:uFillTx/>
              <a:latin typeface="Arial"/>
            </a:endParaRPr>
          </a:p>
          <a:p>
            <a:pPr>
              <a:lnSpc>
                <a:spcPct val="100000"/>
              </a:lnSpc>
            </a:pPr>
            <a:r>
              <a:rPr b="0" lang="en-US" sz="2320" strike="noStrike" u="none">
                <a:solidFill>
                  <a:srgbClr val="ffffff"/>
                </a:solidFill>
                <a:effectLst/>
                <a:uFillTx/>
                <a:latin typeface="DejaVu Sans"/>
                <a:ea typeface="DejaVu Sans"/>
              </a:rPr>
              <a:t>Reportar y dar seguimiento</a:t>
            </a:r>
            <a:endParaRPr b="0" lang="en-US" sz="2320" strike="noStrike" u="none">
              <a:solidFill>
                <a:srgbClr val="ffffff"/>
              </a:solidFill>
              <a:effectLst/>
              <a:uFillTx/>
              <a:latin typeface="Arial"/>
            </a:endParaRPr>
          </a:p>
        </p:txBody>
      </p:sp>
      <p:sp>
        <p:nvSpPr>
          <p:cNvPr id="56" name="text-6"/>
          <p:cNvSpPr/>
          <p:nvPr/>
        </p:nvSpPr>
        <p:spPr>
          <a:xfrm>
            <a:off x="6562800" y="3209760"/>
            <a:ext cx="501948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a9dbe5"/>
                </a:solidFill>
                <a:effectLst/>
                <a:uFillTx/>
                <a:latin typeface="DejaVu Sans"/>
                <a:ea typeface="DejaVu Sans"/>
              </a:rPr>
              <a:t>ADMINISTRADOR AUTORIZADO</a:t>
            </a:r>
            <a:endParaRPr b="0" lang="en-US" sz="1430" strike="noStrike" u="none">
              <a:solidFill>
                <a:srgbClr val="ffffff"/>
              </a:solidFill>
              <a:effectLst/>
              <a:uFillTx/>
              <a:latin typeface="Arial"/>
            </a:endParaRPr>
          </a:p>
        </p:txBody>
      </p:sp>
      <p:sp>
        <p:nvSpPr>
          <p:cNvPr id="57" name="text-7"/>
          <p:cNvSpPr/>
          <p:nvPr/>
        </p:nvSpPr>
        <p:spPr>
          <a:xfrm>
            <a:off x="6562800" y="3753000"/>
            <a:ext cx="5019480" cy="1238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320" strike="noStrike" u="none">
                <a:solidFill>
                  <a:srgbClr val="ffffff"/>
                </a:solidFill>
                <a:effectLst/>
                <a:uFillTx/>
                <a:latin typeface="DejaVu Sans"/>
                <a:ea typeface="DejaVu Sans"/>
              </a:rPr>
              <a:t>Revisar las gestiones</a:t>
            </a:r>
            <a:endParaRPr b="0" lang="en-US" sz="2320" strike="noStrike" u="none">
              <a:solidFill>
                <a:srgbClr val="ffffff"/>
              </a:solidFill>
              <a:effectLst/>
              <a:uFillTx/>
              <a:latin typeface="Arial"/>
            </a:endParaRPr>
          </a:p>
          <a:p>
            <a:pPr>
              <a:lnSpc>
                <a:spcPct val="100000"/>
              </a:lnSpc>
            </a:pPr>
            <a:r>
              <a:rPr b="0" lang="en-US" sz="2320" strike="noStrike" u="none">
                <a:solidFill>
                  <a:srgbClr val="ffffff"/>
                </a:solidFill>
                <a:effectLst/>
                <a:uFillTx/>
                <a:latin typeface="DejaVu Sans"/>
                <a:ea typeface="DejaVu Sans"/>
              </a:rPr>
              <a:t>Responder y actualizar estados</a:t>
            </a:r>
            <a:endParaRPr b="0" lang="en-US" sz="2320" strike="noStrike" u="none">
              <a:solidFill>
                <a:srgbClr val="ffffff"/>
              </a:solidFill>
              <a:effectLst/>
              <a:uFillTx/>
              <a:latin typeface="Arial"/>
            </a:endParaRPr>
          </a:p>
        </p:txBody>
      </p:sp>
      <p:sp>
        <p:nvSpPr>
          <p:cNvPr id="58" name="text-8"/>
          <p:cNvSpPr/>
          <p:nvPr/>
        </p:nvSpPr>
        <p:spPr>
          <a:xfrm>
            <a:off x="609480" y="5648400"/>
            <a:ext cx="1076292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trike="noStrike" u="none">
                <a:solidFill>
                  <a:srgbClr val="a9dbe5"/>
                </a:solidFill>
                <a:effectLst/>
                <a:uFillTx/>
                <a:latin typeface="DejaVu Sans"/>
                <a:ea typeface="DejaVu Sans"/>
              </a:rPr>
              <a:t>El servidor verifica los permisos de cada operación</a:t>
            </a:r>
            <a:endParaRPr b="0" lang="en-US" sz="1870" strike="noStrike" u="none">
              <a:solidFill>
                <a:srgbClr val="ffffff"/>
              </a:solidFill>
              <a:effectLst/>
              <a:uFillTx/>
              <a:latin typeface="Arial"/>
            </a:endParaRPr>
          </a:p>
        </p:txBody>
      </p:sp>
    </p:spTree>
  </p:cSld>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El servicio en tu Android</a:t>
            </a:r>
            <a:endParaRPr b="0" lang="en-US" sz="3450" strike="noStrike" u="none">
              <a:solidFill>
                <a:srgbClr val="000000"/>
              </a:solidFill>
              <a:effectLst/>
              <a:uFillTx/>
              <a:latin typeface="Arial"/>
            </a:endParaRPr>
          </a:p>
        </p:txBody>
      </p:sp>
      <p:sp>
        <p:nvSpPr>
          <p:cNvPr id="60"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61"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05</a:t>
            </a:r>
            <a:endParaRPr b="0" lang="en-US" sz="1280" strike="noStrike" u="none">
              <a:solidFill>
                <a:srgbClr val="000000"/>
              </a:solidFill>
              <a:effectLst/>
              <a:uFillTx/>
              <a:latin typeface="Arial"/>
            </a:endParaRPr>
          </a:p>
        </p:txBody>
      </p:sp>
      <p:pic>
        <p:nvPicPr>
          <p:cNvPr id="62" name="" descr=""/>
          <p:cNvPicPr/>
          <p:nvPr/>
        </p:nvPicPr>
        <p:blipFill>
          <a:blip r:embed="rId1"/>
          <a:stretch/>
        </p:blipFill>
        <p:spPr>
          <a:xfrm>
            <a:off x="846000" y="1581120"/>
            <a:ext cx="2984040" cy="4476240"/>
          </a:xfrm>
          <a:prstGeom prst="rect">
            <a:avLst/>
          </a:prstGeom>
          <a:noFill/>
          <a:ln w="0">
            <a:noFill/>
          </a:ln>
        </p:spPr>
      </p:pic>
      <p:sp>
        <p:nvSpPr>
          <p:cNvPr id="63" name="text-3"/>
          <p:cNvSpPr/>
          <p:nvPr/>
        </p:nvSpPr>
        <p:spPr>
          <a:xfrm>
            <a:off x="4714920" y="180972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01</a:t>
            </a:r>
            <a:endParaRPr b="0" lang="en-US" sz="1430" strike="noStrike" u="none">
              <a:solidFill>
                <a:srgbClr val="000000"/>
              </a:solidFill>
              <a:effectLst/>
              <a:uFillTx/>
              <a:latin typeface="Arial"/>
            </a:endParaRPr>
          </a:p>
        </p:txBody>
      </p:sp>
      <p:sp>
        <p:nvSpPr>
          <p:cNvPr id="64" name="text-4"/>
          <p:cNvSpPr/>
          <p:nvPr/>
        </p:nvSpPr>
        <p:spPr>
          <a:xfrm>
            <a:off x="5315040" y="1781280"/>
            <a:ext cx="62100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243b4b"/>
                </a:solidFill>
                <a:effectLst/>
                <a:uFillTx/>
                <a:latin typeface="DejaVu Sans"/>
                <a:ea typeface="DejaVu Sans"/>
              </a:rPr>
              <a:t>Recibos, consumo, deuda y PDF</a:t>
            </a:r>
            <a:endParaRPr b="0" lang="en-US" sz="1950" strike="noStrike" u="none">
              <a:solidFill>
                <a:srgbClr val="000000"/>
              </a:solidFill>
              <a:effectLst/>
              <a:uFillTx/>
              <a:latin typeface="Arial"/>
            </a:endParaRPr>
          </a:p>
        </p:txBody>
      </p:sp>
      <p:sp>
        <p:nvSpPr>
          <p:cNvPr id="65" name="text-5"/>
          <p:cNvSpPr/>
          <p:nvPr/>
        </p:nvSpPr>
        <p:spPr>
          <a:xfrm>
            <a:off x="4714920" y="25718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02</a:t>
            </a:r>
            <a:endParaRPr b="0" lang="en-US" sz="1430" strike="noStrike" u="none">
              <a:solidFill>
                <a:srgbClr val="000000"/>
              </a:solidFill>
              <a:effectLst/>
              <a:uFillTx/>
              <a:latin typeface="Arial"/>
            </a:endParaRPr>
          </a:p>
        </p:txBody>
      </p:sp>
      <p:sp>
        <p:nvSpPr>
          <p:cNvPr id="66" name="text-6"/>
          <p:cNvSpPr/>
          <p:nvPr/>
        </p:nvSpPr>
        <p:spPr>
          <a:xfrm>
            <a:off x="5315040" y="2543040"/>
            <a:ext cx="62100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243b4b"/>
                </a:solidFill>
                <a:effectLst/>
                <a:uFillTx/>
                <a:latin typeface="DejaVu Sans"/>
                <a:ea typeface="DejaVu Sans"/>
              </a:rPr>
              <a:t>Registros de pago del prototipo</a:t>
            </a:r>
            <a:endParaRPr b="0" lang="en-US" sz="1950" strike="noStrike" u="none">
              <a:solidFill>
                <a:srgbClr val="000000"/>
              </a:solidFill>
              <a:effectLst/>
              <a:uFillTx/>
              <a:latin typeface="Arial"/>
            </a:endParaRPr>
          </a:p>
        </p:txBody>
      </p:sp>
      <p:sp>
        <p:nvSpPr>
          <p:cNvPr id="67" name="text-7"/>
          <p:cNvSpPr/>
          <p:nvPr/>
        </p:nvSpPr>
        <p:spPr>
          <a:xfrm>
            <a:off x="4714920" y="333360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03</a:t>
            </a:r>
            <a:endParaRPr b="0" lang="en-US" sz="1430" strike="noStrike" u="none">
              <a:solidFill>
                <a:srgbClr val="000000"/>
              </a:solidFill>
              <a:effectLst/>
              <a:uFillTx/>
              <a:latin typeface="Arial"/>
            </a:endParaRPr>
          </a:p>
        </p:txBody>
      </p:sp>
      <p:sp>
        <p:nvSpPr>
          <p:cNvPr id="68" name="text-8"/>
          <p:cNvSpPr/>
          <p:nvPr/>
        </p:nvSpPr>
        <p:spPr>
          <a:xfrm>
            <a:off x="5315040" y="3305160"/>
            <a:ext cx="62100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243b4b"/>
                </a:solidFill>
                <a:effectLst/>
                <a:uFillTx/>
                <a:latin typeface="DejaVu Sans"/>
                <a:ea typeface="DejaVu Sans"/>
              </a:rPr>
              <a:t>Incidencias con foto y ubicación</a:t>
            </a:r>
            <a:endParaRPr b="0" lang="en-US" sz="1950" strike="noStrike" u="none">
              <a:solidFill>
                <a:srgbClr val="000000"/>
              </a:solidFill>
              <a:effectLst/>
              <a:uFillTx/>
              <a:latin typeface="Arial"/>
            </a:endParaRPr>
          </a:p>
        </p:txBody>
      </p:sp>
      <p:sp>
        <p:nvSpPr>
          <p:cNvPr id="69" name="text-9"/>
          <p:cNvSpPr/>
          <p:nvPr/>
        </p:nvSpPr>
        <p:spPr>
          <a:xfrm>
            <a:off x="4714920" y="409572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04</a:t>
            </a:r>
            <a:endParaRPr b="0" lang="en-US" sz="1430" strike="noStrike" u="none">
              <a:solidFill>
                <a:srgbClr val="000000"/>
              </a:solidFill>
              <a:effectLst/>
              <a:uFillTx/>
              <a:latin typeface="Arial"/>
            </a:endParaRPr>
          </a:p>
        </p:txBody>
      </p:sp>
      <p:sp>
        <p:nvSpPr>
          <p:cNvPr id="70" name="text-10"/>
          <p:cNvSpPr/>
          <p:nvPr/>
        </p:nvSpPr>
        <p:spPr>
          <a:xfrm>
            <a:off x="5315040" y="4067280"/>
            <a:ext cx="62100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243b4b"/>
                </a:solidFill>
                <a:effectLst/>
                <a:uFillTx/>
                <a:latin typeface="DejaVu Sans"/>
                <a:ea typeface="DejaVu Sans"/>
              </a:rPr>
              <a:t>Atención, cortes y notificaciones</a:t>
            </a:r>
            <a:endParaRPr b="0" lang="en-US" sz="1950" strike="noStrike" u="none">
              <a:solidFill>
                <a:srgbClr val="000000"/>
              </a:solidFill>
              <a:effectLst/>
              <a:uFillTx/>
              <a:latin typeface="Arial"/>
            </a:endParaRPr>
          </a:p>
        </p:txBody>
      </p:sp>
      <p:sp>
        <p:nvSpPr>
          <p:cNvPr id="71" name="text-11"/>
          <p:cNvSpPr/>
          <p:nvPr/>
        </p:nvSpPr>
        <p:spPr>
          <a:xfrm>
            <a:off x="4714920" y="48578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05</a:t>
            </a:r>
            <a:endParaRPr b="0" lang="en-US" sz="1430" strike="noStrike" u="none">
              <a:solidFill>
                <a:srgbClr val="000000"/>
              </a:solidFill>
              <a:effectLst/>
              <a:uFillTx/>
              <a:latin typeface="Arial"/>
            </a:endParaRPr>
          </a:p>
        </p:txBody>
      </p:sp>
      <p:sp>
        <p:nvSpPr>
          <p:cNvPr id="72" name="text-12"/>
          <p:cNvSpPr/>
          <p:nvPr/>
        </p:nvSpPr>
        <p:spPr>
          <a:xfrm>
            <a:off x="5315040" y="4829040"/>
            <a:ext cx="621000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243b4b"/>
                </a:solidFill>
                <a:effectLst/>
                <a:uFillTx/>
                <a:latin typeface="DejaVu Sans"/>
                <a:ea typeface="DejaVu Sans"/>
              </a:rPr>
              <a:t>HidroBot con reglas locales</a:t>
            </a:r>
            <a:endParaRPr b="0" lang="en-US" sz="1950" strike="noStrike" u="none">
              <a:solidFill>
                <a:srgbClr val="000000"/>
              </a:solidFill>
              <a:effectLst/>
              <a:uFillTx/>
              <a:latin typeface="Arial"/>
            </a:endParaRPr>
          </a:p>
        </p:txBody>
      </p:sp>
      <p:sp>
        <p:nvSpPr>
          <p:cNvPr id="73" name="text-13"/>
          <p:cNvSpPr/>
          <p:nvPr/>
        </p:nvSpPr>
        <p:spPr>
          <a:xfrm>
            <a:off x="885960" y="6124680"/>
            <a:ext cx="2857320" cy="2188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130" strike="noStrike" u="none">
                <a:solidFill>
                  <a:srgbClr val="526879"/>
                </a:solidFill>
                <a:effectLst/>
                <a:uFillTx/>
                <a:latin typeface="DejaVu Sans"/>
                <a:ea typeface="DejaVu Sans"/>
              </a:rPr>
              <a:t>Mockup conceptual</a:t>
            </a:r>
            <a:endParaRPr b="0" lang="en-US" sz="1130" strike="noStrike" u="none">
              <a:solidFill>
                <a:srgbClr val="000000"/>
              </a:solidFill>
              <a:effectLst/>
              <a:uFillTx/>
              <a:latin typeface="Arial"/>
            </a:endParaRPr>
          </a:p>
        </p:txBody>
      </p:sp>
      <p:sp>
        <p:nvSpPr>
          <p:cNvPr id="74" name="text-14"/>
          <p:cNvSpPr/>
          <p:nvPr/>
        </p:nvSpPr>
        <p:spPr>
          <a:xfrm>
            <a:off x="4714920" y="5886360"/>
            <a:ext cx="67147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50" strike="noStrike" u="none">
                <a:solidFill>
                  <a:srgbClr val="075d91"/>
                </a:solidFill>
                <a:effectLst/>
                <a:uFillTx/>
                <a:latin typeface="DejaVu Sans"/>
                <a:ea typeface="DejaVu Sans"/>
              </a:rPr>
              <a:t>Pagos sin cargos bancarios. PDF referenciales.</a:t>
            </a:r>
            <a:endParaRPr b="0" lang="en-US" sz="1350" strike="noStrike" u="none">
              <a:solidFill>
                <a:srgbClr val="000000"/>
              </a:solidFill>
              <a:effectLst/>
              <a:uFillTx/>
              <a:latin typeface="Arial"/>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75" name=""/>
          <p:cNvCxnSpPr>
            <a:stCxn id="76" idx="3"/>
            <a:endCxn id="77" idx="1"/>
          </p:cNvCxnSpPr>
          <p:nvPr/>
        </p:nvCxnSpPr>
        <p:spPr>
          <a:xfrm>
            <a:off x="8733960" y="3219120"/>
            <a:ext cx="419760" cy="360"/>
          </a:xfrm>
          <a:prstGeom prst="straightConnector1">
            <a:avLst/>
          </a:prstGeom>
          <a:ln w="23813">
            <a:solidFill>
              <a:srgbClr val="087e9e"/>
            </a:solidFill>
            <a:round/>
            <a:tailEnd len="med" type="triangle" w="med"/>
          </a:ln>
        </p:spPr>
      </p:cxnSp>
      <p:cxnSp>
        <p:nvCxnSpPr>
          <p:cNvPr id="78" name=""/>
          <p:cNvCxnSpPr>
            <a:stCxn id="79" idx="3"/>
            <a:endCxn id="76" idx="1"/>
          </p:cNvCxnSpPr>
          <p:nvPr/>
        </p:nvCxnSpPr>
        <p:spPr>
          <a:xfrm>
            <a:off x="5886000" y="3219120"/>
            <a:ext cx="419760" cy="360"/>
          </a:xfrm>
          <a:prstGeom prst="straightConnector1">
            <a:avLst/>
          </a:prstGeom>
          <a:ln w="23813">
            <a:solidFill>
              <a:srgbClr val="087e9e"/>
            </a:solidFill>
            <a:round/>
            <a:tailEnd len="med" type="triangle" w="med"/>
          </a:ln>
        </p:spPr>
      </p:cxnSp>
      <p:cxnSp>
        <p:nvCxnSpPr>
          <p:cNvPr id="80" name=""/>
          <p:cNvCxnSpPr>
            <a:stCxn id="81" idx="3"/>
            <a:endCxn id="79" idx="1"/>
          </p:cNvCxnSpPr>
          <p:nvPr/>
        </p:nvCxnSpPr>
        <p:spPr>
          <a:xfrm>
            <a:off x="3038040" y="3219120"/>
            <a:ext cx="419760" cy="360"/>
          </a:xfrm>
          <a:prstGeom prst="straightConnector1">
            <a:avLst/>
          </a:prstGeom>
          <a:ln w="23813">
            <a:solidFill>
              <a:srgbClr val="087e9e"/>
            </a:solidFill>
            <a:round/>
            <a:tailEnd len="med" type="triangle" w="med"/>
          </a:ln>
        </p:spPr>
      </p:cxnSp>
      <p:sp>
        <p:nvSpPr>
          <p:cNvPr id="82"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Un recorrido que se puede explicar</a:t>
            </a:r>
            <a:endParaRPr b="0" lang="en-US" sz="3450" strike="noStrike" u="none">
              <a:solidFill>
                <a:srgbClr val="000000"/>
              </a:solidFill>
              <a:effectLst/>
              <a:uFillTx/>
              <a:latin typeface="Arial"/>
            </a:endParaRPr>
          </a:p>
        </p:txBody>
      </p:sp>
      <p:sp>
        <p:nvSpPr>
          <p:cNvPr id="83"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84"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06</a:t>
            </a:r>
            <a:endParaRPr b="0" lang="en-US" sz="1280" strike="noStrike" u="none">
              <a:solidFill>
                <a:srgbClr val="000000"/>
              </a:solidFill>
              <a:effectLst/>
              <a:uFillTx/>
              <a:latin typeface="Arial"/>
            </a:endParaRPr>
          </a:p>
        </p:txBody>
      </p:sp>
      <p:sp>
        <p:nvSpPr>
          <p:cNvPr id="85" name="text-3"/>
          <p:cNvSpPr/>
          <p:nvPr/>
        </p:nvSpPr>
        <p:spPr>
          <a:xfrm>
            <a:off x="609480" y="1581120"/>
            <a:ext cx="10858320" cy="4284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trike="noStrike" u="none">
                <a:solidFill>
                  <a:srgbClr val="526879"/>
                </a:solidFill>
                <a:effectLst/>
                <a:uFillTx/>
                <a:latin typeface="DejaVu Sans"/>
                <a:ea typeface="DejaVu Sans"/>
              </a:rPr>
              <a:t>Consulta de un recibo y obtención de su documento</a:t>
            </a:r>
            <a:endParaRPr b="0" lang="en-US" sz="1950" strike="noStrike" u="none">
              <a:solidFill>
                <a:srgbClr val="000000"/>
              </a:solidFill>
              <a:effectLst/>
              <a:uFillTx/>
              <a:latin typeface="Arial"/>
            </a:endParaRPr>
          </a:p>
        </p:txBody>
      </p:sp>
      <p:sp>
        <p:nvSpPr>
          <p:cNvPr id="81" name=""/>
          <p:cNvSpPr/>
          <p:nvPr/>
        </p:nvSpPr>
        <p:spPr>
          <a:xfrm>
            <a:off x="609480" y="2647800"/>
            <a:ext cx="2428560" cy="1142640"/>
          </a:xfrm>
          <a:prstGeom prst="roundRect">
            <a:avLst>
              <a:gd name="adj" fmla="val 8333"/>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86" name="text-5"/>
          <p:cNvSpPr/>
          <p:nvPr/>
        </p:nvSpPr>
        <p:spPr>
          <a:xfrm>
            <a:off x="800280" y="2819520"/>
            <a:ext cx="20476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1. Acceso</a:t>
            </a:r>
            <a:endParaRPr b="0" lang="en-US" sz="1950" strike="noStrike" u="none">
              <a:solidFill>
                <a:srgbClr val="000000"/>
              </a:solidFill>
              <a:effectLst/>
              <a:uFillTx/>
              <a:latin typeface="Arial"/>
            </a:endParaRPr>
          </a:p>
        </p:txBody>
      </p:sp>
      <p:sp>
        <p:nvSpPr>
          <p:cNvPr id="87" name="text-6"/>
          <p:cNvSpPr/>
          <p:nvPr/>
        </p:nvSpPr>
        <p:spPr>
          <a:xfrm>
            <a:off x="800280" y="3171960"/>
            <a:ext cx="204768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Suministro y contraseña</a:t>
            </a:r>
            <a:endParaRPr b="0" lang="en-US" sz="1430" strike="noStrike" u="none">
              <a:solidFill>
                <a:srgbClr val="000000"/>
              </a:solidFill>
              <a:effectLst/>
              <a:uFillTx/>
              <a:latin typeface="Arial"/>
            </a:endParaRPr>
          </a:p>
        </p:txBody>
      </p:sp>
      <p:sp>
        <p:nvSpPr>
          <p:cNvPr id="79" name=""/>
          <p:cNvSpPr/>
          <p:nvPr/>
        </p:nvSpPr>
        <p:spPr>
          <a:xfrm>
            <a:off x="3457440" y="2647800"/>
            <a:ext cx="2428560" cy="1142640"/>
          </a:xfrm>
          <a:prstGeom prst="roundRect">
            <a:avLst>
              <a:gd name="adj" fmla="val 8333"/>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88" name="text-8"/>
          <p:cNvSpPr/>
          <p:nvPr/>
        </p:nvSpPr>
        <p:spPr>
          <a:xfrm>
            <a:off x="3648240" y="2819520"/>
            <a:ext cx="20476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2. Historial</a:t>
            </a:r>
            <a:endParaRPr b="0" lang="en-US" sz="1950" strike="noStrike" u="none">
              <a:solidFill>
                <a:srgbClr val="000000"/>
              </a:solidFill>
              <a:effectLst/>
              <a:uFillTx/>
              <a:latin typeface="Arial"/>
            </a:endParaRPr>
          </a:p>
        </p:txBody>
      </p:sp>
      <p:sp>
        <p:nvSpPr>
          <p:cNvPr id="89" name="text-9"/>
          <p:cNvSpPr/>
          <p:nvPr/>
        </p:nvSpPr>
        <p:spPr>
          <a:xfrm>
            <a:off x="3648240" y="3171960"/>
            <a:ext cx="204768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Recibos del suministro</a:t>
            </a:r>
            <a:endParaRPr b="0" lang="en-US" sz="1430" strike="noStrike" u="none">
              <a:solidFill>
                <a:srgbClr val="000000"/>
              </a:solidFill>
              <a:effectLst/>
              <a:uFillTx/>
              <a:latin typeface="Arial"/>
            </a:endParaRPr>
          </a:p>
        </p:txBody>
      </p:sp>
      <p:sp>
        <p:nvSpPr>
          <p:cNvPr id="76" name=""/>
          <p:cNvSpPr/>
          <p:nvPr/>
        </p:nvSpPr>
        <p:spPr>
          <a:xfrm>
            <a:off x="6305400" y="2647800"/>
            <a:ext cx="2428560" cy="1142640"/>
          </a:xfrm>
          <a:prstGeom prst="roundRect">
            <a:avLst>
              <a:gd name="adj" fmla="val 8333"/>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90" name="text-11"/>
          <p:cNvSpPr/>
          <p:nvPr/>
        </p:nvSpPr>
        <p:spPr>
          <a:xfrm>
            <a:off x="6496200" y="2819520"/>
            <a:ext cx="20476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3. Detalle</a:t>
            </a:r>
            <a:endParaRPr b="0" lang="en-US" sz="1950" strike="noStrike" u="none">
              <a:solidFill>
                <a:srgbClr val="000000"/>
              </a:solidFill>
              <a:effectLst/>
              <a:uFillTx/>
              <a:latin typeface="Arial"/>
            </a:endParaRPr>
          </a:p>
        </p:txBody>
      </p:sp>
      <p:sp>
        <p:nvSpPr>
          <p:cNvPr id="91" name="text-12"/>
          <p:cNvSpPr/>
          <p:nvPr/>
        </p:nvSpPr>
        <p:spPr>
          <a:xfrm>
            <a:off x="6496200" y="3171960"/>
            <a:ext cx="204768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Periodo, monto y estado</a:t>
            </a:r>
            <a:endParaRPr b="0" lang="en-US" sz="1430" strike="noStrike" u="none">
              <a:solidFill>
                <a:srgbClr val="000000"/>
              </a:solidFill>
              <a:effectLst/>
              <a:uFillTx/>
              <a:latin typeface="Arial"/>
            </a:endParaRPr>
          </a:p>
        </p:txBody>
      </p:sp>
      <p:sp>
        <p:nvSpPr>
          <p:cNvPr id="77" name=""/>
          <p:cNvSpPr/>
          <p:nvPr/>
        </p:nvSpPr>
        <p:spPr>
          <a:xfrm>
            <a:off x="9153360" y="2647800"/>
            <a:ext cx="2428560" cy="1142640"/>
          </a:xfrm>
          <a:prstGeom prst="roundRect">
            <a:avLst>
              <a:gd name="adj" fmla="val 8333"/>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92" name="text-14"/>
          <p:cNvSpPr/>
          <p:nvPr/>
        </p:nvSpPr>
        <p:spPr>
          <a:xfrm>
            <a:off x="9344160" y="2819520"/>
            <a:ext cx="20476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4. PDF</a:t>
            </a:r>
            <a:endParaRPr b="0" lang="en-US" sz="1950" strike="noStrike" u="none">
              <a:solidFill>
                <a:srgbClr val="000000"/>
              </a:solidFill>
              <a:effectLst/>
              <a:uFillTx/>
              <a:latin typeface="Arial"/>
            </a:endParaRPr>
          </a:p>
        </p:txBody>
      </p:sp>
      <p:sp>
        <p:nvSpPr>
          <p:cNvPr id="93" name="text-15"/>
          <p:cNvSpPr/>
          <p:nvPr/>
        </p:nvSpPr>
        <p:spPr>
          <a:xfrm>
            <a:off x="9344160" y="3171960"/>
            <a:ext cx="204768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Documento referencial</a:t>
            </a:r>
            <a:endParaRPr b="0" lang="en-US" sz="1430" strike="noStrike" u="none">
              <a:solidFill>
                <a:srgbClr val="000000"/>
              </a:solidFill>
              <a:effectLst/>
              <a:uFillTx/>
              <a:latin typeface="Arial"/>
            </a:endParaRPr>
          </a:p>
        </p:txBody>
      </p:sp>
      <p:sp>
        <p:nvSpPr>
          <p:cNvPr id="94" name="text-19"/>
          <p:cNvSpPr/>
          <p:nvPr/>
        </p:nvSpPr>
        <p:spPr>
          <a:xfrm>
            <a:off x="609480" y="4410000"/>
            <a:ext cx="257148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50" strike="noStrike" u="none">
                <a:solidFill>
                  <a:srgbClr val="087e9e"/>
                </a:solidFill>
                <a:effectLst/>
                <a:uFillTx/>
                <a:latin typeface="DejaVu Sans"/>
                <a:ea typeface="DejaVu Sans"/>
              </a:rPr>
              <a:t>IDENTIDAD</a:t>
            </a:r>
            <a:endParaRPr b="0" lang="en-US" sz="1350" strike="noStrike" u="none">
              <a:solidFill>
                <a:srgbClr val="000000"/>
              </a:solidFill>
              <a:effectLst/>
              <a:uFillTx/>
              <a:latin typeface="Arial"/>
            </a:endParaRPr>
          </a:p>
        </p:txBody>
      </p:sp>
      <p:sp>
        <p:nvSpPr>
          <p:cNvPr id="95" name="text-20"/>
          <p:cNvSpPr/>
          <p:nvPr/>
        </p:nvSpPr>
        <p:spPr>
          <a:xfrm>
            <a:off x="609480" y="4848120"/>
            <a:ext cx="495252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00" strike="noStrike" u="none">
                <a:solidFill>
                  <a:srgbClr val="103e60"/>
                </a:solidFill>
                <a:effectLst/>
                <a:uFillTx/>
                <a:latin typeface="DejaVu Sans"/>
                <a:ea typeface="DejaVu Sans"/>
              </a:rPr>
              <a:t>La API autentica</a:t>
            </a:r>
            <a:endParaRPr b="0" lang="en-US" sz="2100" strike="noStrike" u="none">
              <a:solidFill>
                <a:srgbClr val="000000"/>
              </a:solidFill>
              <a:effectLst/>
              <a:uFillTx/>
              <a:latin typeface="Arial"/>
            </a:endParaRPr>
          </a:p>
          <a:p>
            <a:pPr>
              <a:lnSpc>
                <a:spcPct val="100000"/>
              </a:lnSpc>
            </a:pPr>
            <a:r>
              <a:rPr b="0" lang="en-US" sz="2100" strike="noStrike" u="none">
                <a:solidFill>
                  <a:srgbClr val="103e60"/>
                </a:solidFill>
                <a:effectLst/>
                <a:uFillTx/>
                <a:latin typeface="DejaVu Sans"/>
                <a:ea typeface="DejaVu Sans"/>
              </a:rPr>
              <a:t>y autoriza la consulta</a:t>
            </a:r>
            <a:endParaRPr b="0" lang="en-US" sz="2100" strike="noStrike" u="none">
              <a:solidFill>
                <a:srgbClr val="000000"/>
              </a:solidFill>
              <a:effectLst/>
              <a:uFillTx/>
              <a:latin typeface="Arial"/>
            </a:endParaRPr>
          </a:p>
        </p:txBody>
      </p:sp>
      <p:sp>
        <p:nvSpPr>
          <p:cNvPr id="96" name="text-21"/>
          <p:cNvSpPr/>
          <p:nvPr/>
        </p:nvSpPr>
        <p:spPr>
          <a:xfrm>
            <a:off x="6572160" y="4410000"/>
            <a:ext cx="457164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50" strike="noStrike" u="none">
                <a:solidFill>
                  <a:srgbClr val="087e9e"/>
                </a:solidFill>
                <a:effectLst/>
                <a:uFillTx/>
                <a:latin typeface="DejaVu Sans"/>
                <a:ea typeface="DejaVu Sans"/>
              </a:rPr>
              <a:t>DOCUMENTO</a:t>
            </a:r>
            <a:endParaRPr b="0" lang="en-US" sz="1350" strike="noStrike" u="none">
              <a:solidFill>
                <a:srgbClr val="000000"/>
              </a:solidFill>
              <a:effectLst/>
              <a:uFillTx/>
              <a:latin typeface="Arial"/>
            </a:endParaRPr>
          </a:p>
        </p:txBody>
      </p:sp>
      <p:sp>
        <p:nvSpPr>
          <p:cNvPr id="97" name="text-22"/>
          <p:cNvSpPr/>
          <p:nvPr/>
        </p:nvSpPr>
        <p:spPr>
          <a:xfrm>
            <a:off x="6572160" y="4848120"/>
            <a:ext cx="500976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00" strike="noStrike" u="none">
                <a:solidFill>
                  <a:srgbClr val="103e60"/>
                </a:solidFill>
                <a:effectLst/>
                <a:uFillTx/>
                <a:latin typeface="DejaVu Sans"/>
                <a:ea typeface="DejaVu Sans"/>
              </a:rPr>
              <a:t>La interfaz genera el PDF</a:t>
            </a:r>
            <a:endParaRPr b="0" lang="en-US" sz="2100" strike="noStrike" u="none">
              <a:solidFill>
                <a:srgbClr val="000000"/>
              </a:solidFill>
              <a:effectLst/>
              <a:uFillTx/>
              <a:latin typeface="Arial"/>
            </a:endParaRPr>
          </a:p>
          <a:p>
            <a:pPr>
              <a:lnSpc>
                <a:spcPct val="100000"/>
              </a:lnSpc>
            </a:pPr>
            <a:r>
              <a:rPr b="0" lang="en-US" sz="2100" strike="noStrike" u="none">
                <a:solidFill>
                  <a:srgbClr val="103e60"/>
                </a:solidFill>
                <a:effectLst/>
                <a:uFillTx/>
                <a:latin typeface="DejaVu Sans"/>
                <a:ea typeface="DejaVu Sans"/>
              </a:rPr>
              <a:t>y Android lo abre o guarda</a:t>
            </a:r>
            <a:endParaRPr b="0" lang="en-US" sz="2100" strike="noStrike" u="none">
              <a:solidFill>
                <a:srgbClr val="000000"/>
              </a:solidFill>
              <a:effectLst/>
              <a:uFillTx/>
              <a:latin typeface="Arial"/>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Administración con contexto</a:t>
            </a:r>
            <a:endParaRPr b="0" lang="en-US" sz="3450" strike="noStrike" u="none">
              <a:solidFill>
                <a:srgbClr val="000000"/>
              </a:solidFill>
              <a:effectLst/>
              <a:uFillTx/>
              <a:latin typeface="Arial"/>
            </a:endParaRPr>
          </a:p>
        </p:txBody>
      </p:sp>
      <p:sp>
        <p:nvSpPr>
          <p:cNvPr id="99"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100"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07</a:t>
            </a:r>
            <a:endParaRPr b="0" lang="en-US" sz="1280" strike="noStrike" u="none">
              <a:solidFill>
                <a:srgbClr val="000000"/>
              </a:solidFill>
              <a:effectLst/>
              <a:uFillTx/>
              <a:latin typeface="Arial"/>
            </a:endParaRPr>
          </a:p>
        </p:txBody>
      </p:sp>
      <p:pic>
        <p:nvPicPr>
          <p:cNvPr id="101" name="" descr=""/>
          <p:cNvPicPr/>
          <p:nvPr/>
        </p:nvPicPr>
        <p:blipFill>
          <a:blip r:embed="rId1"/>
          <a:stretch/>
        </p:blipFill>
        <p:spPr>
          <a:xfrm>
            <a:off x="1168920" y="1590840"/>
            <a:ext cx="6310440" cy="4333680"/>
          </a:xfrm>
          <a:prstGeom prst="rect">
            <a:avLst/>
          </a:prstGeom>
          <a:noFill/>
          <a:ln w="0">
            <a:noFill/>
          </a:ln>
        </p:spPr>
      </p:pic>
      <p:sp>
        <p:nvSpPr>
          <p:cNvPr id="102" name="text-3"/>
          <p:cNvSpPr/>
          <p:nvPr/>
        </p:nvSpPr>
        <p:spPr>
          <a:xfrm>
            <a:off x="8448840" y="1733400"/>
            <a:ext cx="3142800" cy="837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250" strike="noStrike" u="none">
                <a:solidFill>
                  <a:srgbClr val="103e60"/>
                </a:solidFill>
                <a:effectLst/>
                <a:uFillTx/>
                <a:latin typeface="DejaVu Sans"/>
                <a:ea typeface="DejaVu Sans"/>
              </a:rPr>
              <a:t>Gestión por módulos</a:t>
            </a:r>
            <a:endParaRPr b="0" lang="en-US" sz="2250" strike="noStrike" u="none">
              <a:solidFill>
                <a:srgbClr val="000000"/>
              </a:solidFill>
              <a:effectLst/>
              <a:uFillTx/>
              <a:latin typeface="Arial"/>
            </a:endParaRPr>
          </a:p>
        </p:txBody>
      </p:sp>
      <p:sp>
        <p:nvSpPr>
          <p:cNvPr id="103" name="text-4"/>
          <p:cNvSpPr/>
          <p:nvPr/>
        </p:nvSpPr>
        <p:spPr>
          <a:xfrm>
            <a:off x="8448840" y="290520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01</a:t>
            </a:r>
            <a:endParaRPr b="0" lang="en-US" sz="1430" strike="noStrike" u="none">
              <a:solidFill>
                <a:srgbClr val="000000"/>
              </a:solidFill>
              <a:effectLst/>
              <a:uFillTx/>
              <a:latin typeface="Arial"/>
            </a:endParaRPr>
          </a:p>
        </p:txBody>
      </p:sp>
      <p:sp>
        <p:nvSpPr>
          <p:cNvPr id="104" name="text-5"/>
          <p:cNvSpPr/>
          <p:nvPr/>
        </p:nvSpPr>
        <p:spPr>
          <a:xfrm>
            <a:off x="9048600" y="2876400"/>
            <a:ext cx="254268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243b4b"/>
                </a:solidFill>
                <a:effectLst/>
                <a:uFillTx/>
                <a:latin typeface="DejaVu Sans"/>
                <a:ea typeface="DejaVu Sans"/>
              </a:rPr>
              <a:t>Cuentas y suministros</a:t>
            </a:r>
            <a:endParaRPr b="0" lang="en-US" sz="1729" strike="noStrike" u="none">
              <a:solidFill>
                <a:srgbClr val="000000"/>
              </a:solidFill>
              <a:effectLst/>
              <a:uFillTx/>
              <a:latin typeface="Arial"/>
            </a:endParaRPr>
          </a:p>
        </p:txBody>
      </p:sp>
      <p:sp>
        <p:nvSpPr>
          <p:cNvPr id="105" name="text-6"/>
          <p:cNvSpPr/>
          <p:nvPr/>
        </p:nvSpPr>
        <p:spPr>
          <a:xfrm>
            <a:off x="8448840" y="360036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02</a:t>
            </a:r>
            <a:endParaRPr b="0" lang="en-US" sz="1430" strike="noStrike" u="none">
              <a:solidFill>
                <a:srgbClr val="000000"/>
              </a:solidFill>
              <a:effectLst/>
              <a:uFillTx/>
              <a:latin typeface="Arial"/>
            </a:endParaRPr>
          </a:p>
        </p:txBody>
      </p:sp>
      <p:sp>
        <p:nvSpPr>
          <p:cNvPr id="106" name="text-7"/>
          <p:cNvSpPr/>
          <p:nvPr/>
        </p:nvSpPr>
        <p:spPr>
          <a:xfrm>
            <a:off x="9048600" y="3571920"/>
            <a:ext cx="254268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729" strike="noStrike" u="none">
                <a:solidFill>
                  <a:srgbClr val="243b4b"/>
                </a:solidFill>
                <a:effectLst/>
                <a:uFillTx/>
                <a:latin typeface="DejaVu Sans"/>
                <a:ea typeface="DejaVu Sans"/>
              </a:rPr>
              <a:t>Recibos y pagos</a:t>
            </a:r>
            <a:endParaRPr b="0" lang="en-US" sz="1729" strike="noStrike" u="none">
              <a:solidFill>
                <a:srgbClr val="000000"/>
              </a:solidFill>
              <a:effectLst/>
              <a:uFillTx/>
              <a:latin typeface="Arial"/>
            </a:endParaRPr>
          </a:p>
        </p:txBody>
      </p:sp>
      <p:sp>
        <p:nvSpPr>
          <p:cNvPr id="107" name="text-8"/>
          <p:cNvSpPr/>
          <p:nvPr/>
        </p:nvSpPr>
        <p:spPr>
          <a:xfrm>
            <a:off x="8448840" y="429588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03</a:t>
            </a:r>
            <a:endParaRPr b="0" lang="en-US" sz="1430" strike="noStrike" u="none">
              <a:solidFill>
                <a:srgbClr val="000000"/>
              </a:solidFill>
              <a:effectLst/>
              <a:uFillTx/>
              <a:latin typeface="Arial"/>
            </a:endParaRPr>
          </a:p>
        </p:txBody>
      </p:sp>
      <p:sp>
        <p:nvSpPr>
          <p:cNvPr id="108" name="text-9"/>
          <p:cNvSpPr/>
          <p:nvPr/>
        </p:nvSpPr>
        <p:spPr>
          <a:xfrm>
            <a:off x="9048600" y="4267080"/>
            <a:ext cx="254268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729" strike="noStrike" u="none">
                <a:solidFill>
                  <a:srgbClr val="243b4b"/>
                </a:solidFill>
                <a:effectLst/>
                <a:uFillTx/>
                <a:latin typeface="DejaVu Sans"/>
                <a:ea typeface="DejaVu Sans"/>
              </a:rPr>
              <a:t>Incidencias y atención</a:t>
            </a:r>
            <a:endParaRPr b="0" lang="en-US" sz="1729" strike="noStrike" u="none">
              <a:solidFill>
                <a:srgbClr val="000000"/>
              </a:solidFill>
              <a:effectLst/>
              <a:uFillTx/>
              <a:latin typeface="Arial"/>
            </a:endParaRPr>
          </a:p>
        </p:txBody>
      </p:sp>
      <p:sp>
        <p:nvSpPr>
          <p:cNvPr id="109" name="text-10"/>
          <p:cNvSpPr/>
          <p:nvPr/>
        </p:nvSpPr>
        <p:spPr>
          <a:xfrm>
            <a:off x="8448840" y="4991040"/>
            <a:ext cx="45684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04</a:t>
            </a:r>
            <a:endParaRPr b="0" lang="en-US" sz="1430" strike="noStrike" u="none">
              <a:solidFill>
                <a:srgbClr val="000000"/>
              </a:solidFill>
              <a:effectLst/>
              <a:uFillTx/>
              <a:latin typeface="Arial"/>
            </a:endParaRPr>
          </a:p>
        </p:txBody>
      </p:sp>
      <p:sp>
        <p:nvSpPr>
          <p:cNvPr id="110" name="text-11"/>
          <p:cNvSpPr/>
          <p:nvPr/>
        </p:nvSpPr>
        <p:spPr>
          <a:xfrm>
            <a:off x="9048600" y="4962600"/>
            <a:ext cx="2542680" cy="647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729" strike="noStrike" u="none">
                <a:solidFill>
                  <a:srgbClr val="243b4b"/>
                </a:solidFill>
                <a:effectLst/>
                <a:uFillTx/>
                <a:latin typeface="DejaVu Sans"/>
                <a:ea typeface="DejaVu Sans"/>
              </a:rPr>
              <a:t>Cortes y estados</a:t>
            </a:r>
            <a:endParaRPr b="0" lang="en-US" sz="1729" strike="noStrike" u="none">
              <a:solidFill>
                <a:srgbClr val="000000"/>
              </a:solidFill>
              <a:effectLst/>
              <a:uFillTx/>
              <a:latin typeface="Arial"/>
            </a:endParaRPr>
          </a:p>
        </p:txBody>
      </p:sp>
      <p:sp>
        <p:nvSpPr>
          <p:cNvPr id="111" name="text-12"/>
          <p:cNvSpPr/>
          <p:nvPr/>
        </p:nvSpPr>
        <p:spPr>
          <a:xfrm>
            <a:off x="609480" y="6076800"/>
            <a:ext cx="10858320" cy="237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30" strike="noStrike" u="none">
                <a:solidFill>
                  <a:srgbClr val="526879"/>
                </a:solidFill>
                <a:effectLst/>
                <a:uFillTx/>
                <a:latin typeface="DejaVu Sans"/>
                <a:ea typeface="DejaVu Sans"/>
              </a:rPr>
              <a:t>Captura real del acceso publicado. Módulos verificados en el repositorio.</a:t>
            </a:r>
            <a:endParaRPr b="0" lang="en-US" sz="1130" strike="noStrike" u="none">
              <a:solidFill>
                <a:srgbClr val="000000"/>
              </a:solidFill>
              <a:effectLst/>
              <a:uFillTx/>
              <a:latin typeface="Arial"/>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cxnSp>
        <p:nvCxnSpPr>
          <p:cNvPr id="112" name=""/>
          <p:cNvCxnSpPr>
            <a:stCxn id="113" idx="2"/>
            <a:endCxn id="114" idx="0"/>
          </p:cNvCxnSpPr>
          <p:nvPr/>
        </p:nvCxnSpPr>
        <p:spPr>
          <a:xfrm flipH="1" rot="16200000">
            <a:off x="5783760" y="4059360"/>
            <a:ext cx="1086480" cy="452880"/>
          </a:xfrm>
          <a:prstGeom prst="bentConnector3">
            <a:avLst>
              <a:gd name="adj1" fmla="val 50016"/>
            </a:avLst>
          </a:prstGeom>
          <a:ln w="23813">
            <a:solidFill>
              <a:srgbClr val="a9dbe5"/>
            </a:solidFill>
            <a:round/>
            <a:tailEnd len="med" type="triangle" w="med"/>
          </a:ln>
        </p:spPr>
      </p:cxnSp>
      <p:cxnSp>
        <p:nvCxnSpPr>
          <p:cNvPr id="115" name=""/>
          <p:cNvCxnSpPr>
            <a:stCxn id="113" idx="3"/>
            <a:endCxn id="116" idx="1"/>
          </p:cNvCxnSpPr>
          <p:nvPr/>
        </p:nvCxnSpPr>
        <p:spPr>
          <a:xfrm>
            <a:off x="7362360" y="3195360"/>
            <a:ext cx="1696320" cy="360"/>
          </a:xfrm>
          <a:prstGeom prst="straightConnector1">
            <a:avLst/>
          </a:prstGeom>
          <a:ln w="23813">
            <a:solidFill>
              <a:srgbClr val="087e9e"/>
            </a:solidFill>
            <a:round/>
            <a:tailEnd len="med" type="triangle" w="med"/>
          </a:ln>
        </p:spPr>
      </p:cxnSp>
      <p:cxnSp>
        <p:nvCxnSpPr>
          <p:cNvPr id="117" name=""/>
          <p:cNvCxnSpPr>
            <a:stCxn id="118" idx="3"/>
            <a:endCxn id="113" idx="1"/>
          </p:cNvCxnSpPr>
          <p:nvPr/>
        </p:nvCxnSpPr>
        <p:spPr>
          <a:xfrm>
            <a:off x="3133080" y="3195360"/>
            <a:ext cx="1706040" cy="360"/>
          </a:xfrm>
          <a:prstGeom prst="straightConnector1">
            <a:avLst/>
          </a:prstGeom>
          <a:ln w="23813">
            <a:solidFill>
              <a:srgbClr val="087e9e"/>
            </a:solidFill>
            <a:round/>
            <a:tailEnd len="med" type="triangle" w="med"/>
          </a:ln>
        </p:spPr>
      </p:cxnSp>
      <p:sp>
        <p:nvSpPr>
          <p:cNvPr id="119"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ffffff"/>
                </a:solidFill>
                <a:effectLst/>
                <a:uFillTx/>
                <a:latin typeface="DejaVu Sans"/>
                <a:ea typeface="DejaVu Sans"/>
              </a:rPr>
              <a:t>Una actualización conecta ambos lados</a:t>
            </a:r>
            <a:endParaRPr b="0" lang="en-US" sz="3450" strike="noStrike" u="none">
              <a:solidFill>
                <a:srgbClr val="ffffff"/>
              </a:solidFill>
              <a:effectLst/>
              <a:uFillTx/>
              <a:latin typeface="Arial"/>
            </a:endParaRPr>
          </a:p>
        </p:txBody>
      </p:sp>
      <p:sp>
        <p:nvSpPr>
          <p:cNvPr id="120"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HIDRO-MEJORA   /   Proyecto universitario</a:t>
            </a:r>
            <a:endParaRPr b="0" lang="en-US" sz="1050" strike="noStrike" u="none">
              <a:solidFill>
                <a:srgbClr val="ffffff"/>
              </a:solidFill>
              <a:effectLst/>
              <a:uFillTx/>
              <a:latin typeface="Arial"/>
            </a:endParaRPr>
          </a:p>
        </p:txBody>
      </p:sp>
      <p:sp>
        <p:nvSpPr>
          <p:cNvPr id="121"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a9dbe5"/>
                </a:solidFill>
                <a:effectLst/>
                <a:uFillTx/>
                <a:latin typeface="DejaVu Sans"/>
                <a:ea typeface="DejaVu Sans"/>
              </a:rPr>
              <a:t>08</a:t>
            </a:r>
            <a:endParaRPr b="0" lang="en-US" sz="1280" strike="noStrike" u="none">
              <a:solidFill>
                <a:srgbClr val="ffffff"/>
              </a:solidFill>
              <a:effectLst/>
              <a:uFillTx/>
              <a:latin typeface="Arial"/>
            </a:endParaRPr>
          </a:p>
        </p:txBody>
      </p:sp>
      <p:sp>
        <p:nvSpPr>
          <p:cNvPr id="122" name="text-3"/>
          <p:cNvSpPr/>
          <p:nvPr/>
        </p:nvSpPr>
        <p:spPr>
          <a:xfrm>
            <a:off x="609480" y="1590840"/>
            <a:ext cx="10858320" cy="447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a9dbe5"/>
                </a:solidFill>
                <a:effectLst/>
                <a:uFillTx/>
                <a:latin typeface="DejaVu Sans"/>
                <a:ea typeface="DejaVu Sans"/>
              </a:rPr>
              <a:t>Ejemplo: una incidencia cambia a “En revisión”</a:t>
            </a:r>
            <a:endParaRPr b="0" lang="en-US" sz="2020" strike="noStrike" u="none">
              <a:solidFill>
                <a:srgbClr val="ffffff"/>
              </a:solidFill>
              <a:effectLst/>
              <a:uFillTx/>
              <a:latin typeface="Arial"/>
            </a:endParaRPr>
          </a:p>
        </p:txBody>
      </p:sp>
      <p:sp>
        <p:nvSpPr>
          <p:cNvPr id="118" name=""/>
          <p:cNvSpPr/>
          <p:nvPr/>
        </p:nvSpPr>
        <p:spPr>
          <a:xfrm>
            <a:off x="609480" y="2647800"/>
            <a:ext cx="2523600" cy="1095120"/>
          </a:xfrm>
          <a:prstGeom prst="roundRect">
            <a:avLst>
              <a:gd name="adj" fmla="val 8696"/>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23" name="text-5"/>
          <p:cNvSpPr/>
          <p:nvPr/>
        </p:nvSpPr>
        <p:spPr>
          <a:xfrm>
            <a:off x="800280" y="2819520"/>
            <a:ext cx="214272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Administrador</a:t>
            </a:r>
            <a:endParaRPr b="0" lang="en-US" sz="1950" strike="noStrike" u="none">
              <a:solidFill>
                <a:srgbClr val="ffffff"/>
              </a:solidFill>
              <a:effectLst/>
              <a:uFillTx/>
              <a:latin typeface="Arial"/>
            </a:endParaRPr>
          </a:p>
        </p:txBody>
      </p:sp>
      <p:sp>
        <p:nvSpPr>
          <p:cNvPr id="124" name="text-6"/>
          <p:cNvSpPr/>
          <p:nvPr/>
        </p:nvSpPr>
        <p:spPr>
          <a:xfrm>
            <a:off x="800280" y="3171960"/>
            <a:ext cx="2142720" cy="542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Actualiza el estado</a:t>
            </a:r>
            <a:endParaRPr b="0" lang="en-US" sz="1430" strike="noStrike" u="none">
              <a:solidFill>
                <a:srgbClr val="ffffff"/>
              </a:solidFill>
              <a:effectLst/>
              <a:uFillTx/>
              <a:latin typeface="Arial"/>
            </a:endParaRPr>
          </a:p>
        </p:txBody>
      </p:sp>
      <p:sp>
        <p:nvSpPr>
          <p:cNvPr id="113" name=""/>
          <p:cNvSpPr/>
          <p:nvPr/>
        </p:nvSpPr>
        <p:spPr>
          <a:xfrm>
            <a:off x="4838760" y="2647800"/>
            <a:ext cx="2523600" cy="1095120"/>
          </a:xfrm>
          <a:prstGeom prst="roundRect">
            <a:avLst>
              <a:gd name="adj" fmla="val 8696"/>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25" name="text-8"/>
          <p:cNvSpPr/>
          <p:nvPr/>
        </p:nvSpPr>
        <p:spPr>
          <a:xfrm>
            <a:off x="5029200" y="2819520"/>
            <a:ext cx="214272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API Express</a:t>
            </a:r>
            <a:endParaRPr b="0" lang="en-US" sz="1950" strike="noStrike" u="none">
              <a:solidFill>
                <a:srgbClr val="ffffff"/>
              </a:solidFill>
              <a:effectLst/>
              <a:uFillTx/>
              <a:latin typeface="Arial"/>
            </a:endParaRPr>
          </a:p>
        </p:txBody>
      </p:sp>
      <p:sp>
        <p:nvSpPr>
          <p:cNvPr id="126" name="text-9"/>
          <p:cNvSpPr/>
          <p:nvPr/>
        </p:nvSpPr>
        <p:spPr>
          <a:xfrm>
            <a:off x="5029200" y="3171960"/>
            <a:ext cx="2142720" cy="542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Valida y confirma</a:t>
            </a:r>
            <a:endParaRPr b="0" lang="en-US" sz="1430" strike="noStrike" u="none">
              <a:solidFill>
                <a:srgbClr val="ffffff"/>
              </a:solidFill>
              <a:effectLst/>
              <a:uFillTx/>
              <a:latin typeface="Arial"/>
            </a:endParaRPr>
          </a:p>
        </p:txBody>
      </p:sp>
      <p:sp>
        <p:nvSpPr>
          <p:cNvPr id="116" name=""/>
          <p:cNvSpPr/>
          <p:nvPr/>
        </p:nvSpPr>
        <p:spPr>
          <a:xfrm>
            <a:off x="9058320" y="2647800"/>
            <a:ext cx="2523600" cy="1095120"/>
          </a:xfrm>
          <a:prstGeom prst="roundRect">
            <a:avLst>
              <a:gd name="adj" fmla="val 8696"/>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27" name="text-11"/>
          <p:cNvSpPr/>
          <p:nvPr/>
        </p:nvSpPr>
        <p:spPr>
          <a:xfrm>
            <a:off x="9248760" y="2819520"/>
            <a:ext cx="214272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PostgreSQL</a:t>
            </a:r>
            <a:endParaRPr b="0" lang="en-US" sz="1950" strike="noStrike" u="none">
              <a:solidFill>
                <a:srgbClr val="ffffff"/>
              </a:solidFill>
              <a:effectLst/>
              <a:uFillTx/>
              <a:latin typeface="Arial"/>
            </a:endParaRPr>
          </a:p>
        </p:txBody>
      </p:sp>
      <p:sp>
        <p:nvSpPr>
          <p:cNvPr id="128" name="text-12"/>
          <p:cNvSpPr/>
          <p:nvPr/>
        </p:nvSpPr>
        <p:spPr>
          <a:xfrm>
            <a:off x="9248760" y="3171960"/>
            <a:ext cx="2142720" cy="542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Conserva el registro</a:t>
            </a:r>
            <a:endParaRPr b="0" lang="en-US" sz="1430" strike="noStrike" u="none">
              <a:solidFill>
                <a:srgbClr val="ffffff"/>
              </a:solidFill>
              <a:effectLst/>
              <a:uFillTx/>
              <a:latin typeface="Arial"/>
            </a:endParaRPr>
          </a:p>
        </p:txBody>
      </p:sp>
      <p:sp>
        <p:nvSpPr>
          <p:cNvPr id="114" name=""/>
          <p:cNvSpPr/>
          <p:nvPr/>
        </p:nvSpPr>
        <p:spPr>
          <a:xfrm>
            <a:off x="4838760" y="4829040"/>
            <a:ext cx="3428640" cy="1066320"/>
          </a:xfrm>
          <a:prstGeom prst="roundRect">
            <a:avLst>
              <a:gd name="adj" fmla="val 8929"/>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29" name="text-16"/>
          <p:cNvSpPr/>
          <p:nvPr/>
        </p:nvSpPr>
        <p:spPr>
          <a:xfrm>
            <a:off x="5029200" y="5000760"/>
            <a:ext cx="304776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Aplicación Android</a:t>
            </a:r>
            <a:endParaRPr b="0" lang="en-US" sz="1950" strike="noStrike" u="none">
              <a:solidFill>
                <a:srgbClr val="ffffff"/>
              </a:solidFill>
              <a:effectLst/>
              <a:uFillTx/>
              <a:latin typeface="Arial"/>
            </a:endParaRPr>
          </a:p>
        </p:txBody>
      </p:sp>
      <p:sp>
        <p:nvSpPr>
          <p:cNvPr id="130" name="text-17"/>
          <p:cNvSpPr/>
          <p:nvPr/>
        </p:nvSpPr>
        <p:spPr>
          <a:xfrm>
            <a:off x="5029200" y="5353200"/>
            <a:ext cx="3047760" cy="5140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Consulta el estado vigente</a:t>
            </a:r>
            <a:endParaRPr b="0" lang="en-US" sz="1430" strike="noStrike" u="none">
              <a:solidFill>
                <a:srgbClr val="ffffff"/>
              </a:solidFill>
              <a:effectLst/>
              <a:uFillTx/>
              <a:latin typeface="Arial"/>
            </a:endParaRPr>
          </a:p>
        </p:txBody>
      </p:sp>
      <p:sp>
        <p:nvSpPr>
          <p:cNvPr id="131" name="text-19"/>
          <p:cNvSpPr/>
          <p:nvPr/>
        </p:nvSpPr>
        <p:spPr>
          <a:xfrm>
            <a:off x="3143160" y="2886120"/>
            <a:ext cx="1714320" cy="5713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s-ES" sz="1350" strike="noStrike" u="none">
                <a:solidFill>
                  <a:srgbClr val="a9dbe5"/>
                </a:solidFill>
                <a:effectLst/>
                <a:uFillTx/>
                <a:latin typeface="DejaVu Sans"/>
                <a:ea typeface="DejaVu Sans"/>
              </a:rPr>
              <a:t>PATCH autenticado</a:t>
            </a:r>
            <a:endParaRPr b="0" lang="es-ES" sz="1350" strike="noStrike" u="none">
              <a:solidFill>
                <a:srgbClr val="ffffff"/>
              </a:solidFill>
              <a:effectLst/>
              <a:uFillTx/>
              <a:latin typeface="Arial"/>
            </a:endParaRPr>
          </a:p>
        </p:txBody>
      </p:sp>
      <p:sp>
        <p:nvSpPr>
          <p:cNvPr id="132" name="text-20"/>
          <p:cNvSpPr/>
          <p:nvPr/>
        </p:nvSpPr>
        <p:spPr>
          <a:xfrm>
            <a:off x="7391520" y="2886120"/>
            <a:ext cx="1618920" cy="5713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s-ES" sz="1350" strike="noStrike" u="none">
                <a:solidFill>
                  <a:srgbClr val="a9dbe5"/>
                </a:solidFill>
                <a:effectLst/>
                <a:uFillTx/>
                <a:latin typeface="DejaVu Sans"/>
                <a:ea typeface="DejaVu Sans"/>
              </a:rPr>
              <a:t>Transacción SQL</a:t>
            </a:r>
            <a:endParaRPr b="0" lang="es-ES" sz="1350" strike="noStrike" u="none">
              <a:solidFill>
                <a:srgbClr val="ffffff"/>
              </a:solidFill>
              <a:effectLst/>
              <a:uFillTx/>
              <a:latin typeface="Arial"/>
            </a:endParaRPr>
          </a:p>
        </p:txBody>
      </p:sp>
      <p:sp>
        <p:nvSpPr>
          <p:cNvPr id="133" name="text-21"/>
          <p:cNvSpPr/>
          <p:nvPr/>
        </p:nvSpPr>
        <p:spPr>
          <a:xfrm>
            <a:off x="8477280" y="4648320"/>
            <a:ext cx="3047760" cy="856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trike="noStrike" u="none">
                <a:solidFill>
                  <a:srgbClr val="ffffff"/>
                </a:solidFill>
                <a:effectLst/>
                <a:uFillTx/>
                <a:latin typeface="DejaVu Sans"/>
                <a:ea typeface="DejaVu Sans"/>
              </a:rPr>
              <a:t>Aviso Socket.IO</a:t>
            </a:r>
            <a:endParaRPr b="0" lang="en-US" sz="1800" strike="noStrike" u="none">
              <a:solidFill>
                <a:srgbClr val="ffffff"/>
              </a:solidFill>
              <a:effectLst/>
              <a:uFillTx/>
              <a:latin typeface="Arial"/>
            </a:endParaRPr>
          </a:p>
          <a:p>
            <a:pPr>
              <a:lnSpc>
                <a:spcPct val="100000"/>
              </a:lnSpc>
            </a:pPr>
            <a:r>
              <a:rPr b="0" lang="en-US" sz="1800" strike="noStrike" u="none">
                <a:solidFill>
                  <a:srgbClr val="ffffff"/>
                </a:solidFill>
                <a:effectLst/>
                <a:uFillTx/>
                <a:latin typeface="DejaVu Sans"/>
                <a:ea typeface="DejaVu Sans"/>
              </a:rPr>
              <a:t>y nueva consulta REST</a:t>
            </a:r>
            <a:endParaRPr b="0" lang="en-US" sz="1800" strike="noStrike" u="none">
              <a:solidFill>
                <a:srgbClr val="ffffff"/>
              </a:solidFill>
              <a:effectLst/>
              <a:uFillTx/>
              <a:latin typeface="Arial"/>
            </a:endParaRPr>
          </a:p>
        </p:txBody>
      </p:sp>
      <p:sp>
        <p:nvSpPr>
          <p:cNvPr id="134" name="text-22"/>
          <p:cNvSpPr/>
          <p:nvPr/>
        </p:nvSpPr>
        <p:spPr>
          <a:xfrm>
            <a:off x="609480" y="5896080"/>
            <a:ext cx="10858320" cy="333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500" strike="noStrike" u="none">
                <a:solidFill>
                  <a:srgbClr val="a9dbe5"/>
                </a:solidFill>
                <a:effectLst/>
                <a:uFillTx/>
                <a:latin typeface="DejaVu Sans"/>
                <a:ea typeface="DejaVu Sans"/>
              </a:rPr>
              <a:t>Las salas y los destinatarios los decide el servidor</a:t>
            </a:r>
            <a:endParaRPr b="0" lang="en-US" sz="1500" strike="noStrike" u="none">
              <a:solidFill>
                <a:srgbClr val="ffffff"/>
              </a:solidFill>
              <a:effectLst/>
              <a:uFillTx/>
              <a:latin typeface="Arial"/>
            </a:endParaRPr>
          </a:p>
        </p:txBody>
      </p:sp>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Valor en cada gestión</a:t>
            </a:r>
            <a:endParaRPr b="0" lang="en-US" sz="3450" strike="noStrike" u="none">
              <a:solidFill>
                <a:srgbClr val="000000"/>
              </a:solidFill>
              <a:effectLst/>
              <a:uFillTx/>
              <a:latin typeface="Arial"/>
            </a:endParaRPr>
          </a:p>
        </p:txBody>
      </p:sp>
      <p:sp>
        <p:nvSpPr>
          <p:cNvPr id="136"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137"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09</a:t>
            </a:r>
            <a:endParaRPr b="0" lang="en-US" sz="1280" strike="noStrike" u="none">
              <a:solidFill>
                <a:srgbClr val="000000"/>
              </a:solidFill>
              <a:effectLst/>
              <a:uFillTx/>
              <a:latin typeface="Arial"/>
            </a:endParaRPr>
          </a:p>
        </p:txBody>
      </p:sp>
      <p:graphicFrame>
        <p:nvGraphicFramePr>
          <p:cNvPr id="138" name=""/>
          <p:cNvGraphicFramePr/>
          <p:nvPr/>
        </p:nvGraphicFramePr>
        <p:xfrm>
          <a:off x="609480" y="1809720"/>
          <a:ext cx="10972440" cy="3333600"/>
        </p:xfrm>
        <a:graphic>
          <a:graphicData uri="http://schemas.openxmlformats.org/drawingml/2006/table">
            <a:tbl>
              <a:tblPr/>
              <a:tblGrid>
                <a:gridCol w="2095200"/>
                <a:gridCol w="4000320"/>
                <a:gridCol w="4876560"/>
              </a:tblGrid>
              <a:tr h="666720">
                <a:tc>
                  <a:txBody>
                    <a:bodyPr anchor="ctr">
                      <a:noAutofit/>
                    </a:bodyPr>
                    <a:p>
                      <a:pPr>
                        <a:lnSpc>
                          <a:spcPct val="100000"/>
                        </a:lnSpc>
                      </a:pPr>
                      <a:r>
                        <a:rPr b="1" lang="es-ES" sz="1729" strike="noStrike" u="none">
                          <a:solidFill>
                            <a:srgbClr val="ffffff"/>
                          </a:solidFill>
                          <a:effectLst/>
                          <a:uFillTx/>
                          <a:latin typeface="DejaVu Sans"/>
                          <a:ea typeface="DejaVu Sans"/>
                        </a:rPr>
                        <a:t>Gestión</a:t>
                      </a:r>
                      <a:endParaRPr b="0" lang="es-ES" sz="1729" strike="noStrike" u="none">
                        <a:solidFill>
                          <a:srgbClr val="ffffff"/>
                        </a:solidFill>
                        <a:effectLst/>
                        <a:uFillTx/>
                        <a:latin typeface="Arial"/>
                      </a:endParaRPr>
                    </a:p>
                  </a:txBody>
                  <a:tcPr anchor="ctr" marL="91440" marR="91440">
                    <a:lnL w="9360">
                      <a:solidFill>
                        <a:srgbClr val="d9e3eb"/>
                      </a:solidFill>
                      <a:prstDash val="solid"/>
                    </a:lnL>
                    <a:lnR w="9360">
                      <a:solidFill>
                        <a:srgbClr val="d9e3eb"/>
                      </a:solidFill>
                      <a:prstDash val="solid"/>
                    </a:lnR>
                    <a:lnT w="9360">
                      <a:solidFill>
                        <a:srgbClr val="d9e3eb"/>
                      </a:solidFill>
                      <a:prstDash val="solid"/>
                    </a:lnT>
                    <a:lnB w="9360">
                      <a:solidFill>
                        <a:srgbClr val="d9e3eb"/>
                      </a:solidFill>
                      <a:prstDash val="solid"/>
                    </a:lnB>
                    <a:solidFill>
                      <a:srgbClr val="103e60"/>
                    </a:solidFill>
                  </a:tcPr>
                </a:tc>
                <a:tc>
                  <a:txBody>
                    <a:bodyPr anchor="ctr">
                      <a:noAutofit/>
                    </a:bodyPr>
                    <a:p>
                      <a:pPr>
                        <a:lnSpc>
                          <a:spcPct val="100000"/>
                        </a:lnSpc>
                      </a:pPr>
                      <a:r>
                        <a:rPr b="1" lang="es-ES" sz="1729" strike="noStrike" u="none">
                          <a:solidFill>
                            <a:srgbClr val="ffffff"/>
                          </a:solidFill>
                          <a:effectLst/>
                          <a:uFillTx/>
                          <a:latin typeface="DejaVu Sans"/>
                          <a:ea typeface="DejaVu Sans"/>
                        </a:rPr>
                        <a:t>Escenario disperso</a:t>
                      </a:r>
                      <a:endParaRPr b="0" lang="es-ES" sz="1729" strike="noStrike" u="none">
                        <a:solidFill>
                          <a:srgbClr val="ffffff"/>
                        </a:solidFill>
                        <a:effectLst/>
                        <a:uFillTx/>
                        <a:latin typeface="Arial"/>
                      </a:endParaRPr>
                    </a:p>
                  </a:txBody>
                  <a:tcPr anchor="ctr" marL="91440" marR="91440">
                    <a:lnL w="12240">
                      <a:solidFill>
                        <a:srgbClr val="000000"/>
                      </a:solidFill>
                      <a:prstDash val="solid"/>
                    </a:lnL>
                    <a:lnR w="9360">
                      <a:solidFill>
                        <a:srgbClr val="d9e3eb"/>
                      </a:solidFill>
                      <a:prstDash val="solid"/>
                    </a:lnR>
                    <a:lnT w="9360">
                      <a:solidFill>
                        <a:srgbClr val="d9e3eb"/>
                      </a:solidFill>
                      <a:prstDash val="solid"/>
                    </a:lnT>
                    <a:lnB w="9360">
                      <a:solidFill>
                        <a:srgbClr val="d9e3eb"/>
                      </a:solidFill>
                      <a:prstDash val="solid"/>
                    </a:lnB>
                    <a:solidFill>
                      <a:srgbClr val="103e60"/>
                    </a:solidFill>
                  </a:tcPr>
                </a:tc>
                <a:tc>
                  <a:txBody>
                    <a:bodyPr anchor="ctr">
                      <a:noAutofit/>
                    </a:bodyPr>
                    <a:p>
                      <a:pPr>
                        <a:lnSpc>
                          <a:spcPct val="100000"/>
                        </a:lnSpc>
                      </a:pPr>
                      <a:r>
                        <a:rPr b="1" lang="es-ES" sz="1729" strike="noStrike" u="none">
                          <a:solidFill>
                            <a:srgbClr val="ffffff"/>
                          </a:solidFill>
                          <a:effectLst/>
                          <a:uFillTx/>
                          <a:latin typeface="DejaVu Sans"/>
                          <a:ea typeface="DejaVu Sans"/>
                        </a:rPr>
                        <a:t>Hidro-Mejora</a:t>
                      </a:r>
                      <a:endParaRPr b="0" lang="es-ES" sz="1729" strike="noStrike" u="none">
                        <a:solidFill>
                          <a:srgbClr val="ffffff"/>
                        </a:solidFill>
                        <a:effectLst/>
                        <a:uFillTx/>
                        <a:latin typeface="Arial"/>
                      </a:endParaRPr>
                    </a:p>
                  </a:txBody>
                  <a:tcPr anchor="ctr" marL="91440" marR="91440">
                    <a:lnL w="12240">
                      <a:solidFill>
                        <a:srgbClr val="000000"/>
                      </a:solidFill>
                      <a:prstDash val="solid"/>
                    </a:lnL>
                    <a:lnR w="9360">
                      <a:solidFill>
                        <a:srgbClr val="d9e3eb"/>
                      </a:solidFill>
                      <a:prstDash val="solid"/>
                    </a:lnR>
                    <a:lnT w="9360">
                      <a:solidFill>
                        <a:srgbClr val="d9e3eb"/>
                      </a:solidFill>
                      <a:prstDash val="solid"/>
                    </a:lnT>
                    <a:lnB w="9360">
                      <a:solidFill>
                        <a:srgbClr val="d9e3eb"/>
                      </a:solidFill>
                      <a:prstDash val="solid"/>
                    </a:lnB>
                    <a:solidFill>
                      <a:srgbClr val="103e60"/>
                    </a:solidFill>
                  </a:tcPr>
                </a:tc>
              </a:tr>
              <a:tr h="666720">
                <a:tc>
                  <a:txBody>
                    <a:bodyPr anchor="ctr">
                      <a:noAutofit/>
                    </a:bodyPr>
                    <a:p>
                      <a:pPr>
                        <a:lnSpc>
                          <a:spcPct val="100000"/>
                        </a:lnSpc>
                      </a:pPr>
                      <a:r>
                        <a:rPr b="1" lang="es-ES" sz="1729" strike="noStrike" u="none">
                          <a:solidFill>
                            <a:srgbClr val="243b4b"/>
                          </a:solidFill>
                          <a:effectLst/>
                          <a:uFillTx/>
                          <a:latin typeface="DejaVu Sans"/>
                          <a:ea typeface="DejaVu Sans"/>
                        </a:rPr>
                        <a:t>Consulta</a:t>
                      </a:r>
                      <a:endParaRPr b="0" lang="es-ES" sz="1729" strike="noStrike" u="none">
                        <a:solidFill>
                          <a:srgbClr val="000000"/>
                        </a:solidFill>
                        <a:effectLst/>
                        <a:uFillTx/>
                        <a:latin typeface="Arial"/>
                      </a:endParaRPr>
                    </a:p>
                  </a:txBody>
                  <a:tcPr anchor="ctr" marL="91440" marR="91440">
                    <a:lnL w="9360">
                      <a:solidFill>
                        <a:srgbClr val="d9e3eb"/>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Buscar antecedentes</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Registros del suministro</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r>
              <a:tr h="666720">
                <a:tc>
                  <a:txBody>
                    <a:bodyPr anchor="ctr">
                      <a:noAutofit/>
                    </a:bodyPr>
                    <a:p>
                      <a:pPr>
                        <a:lnSpc>
                          <a:spcPct val="100000"/>
                        </a:lnSpc>
                      </a:pPr>
                      <a:r>
                        <a:rPr b="1" lang="es-ES" sz="1729" strike="noStrike" u="none">
                          <a:solidFill>
                            <a:srgbClr val="243b4b"/>
                          </a:solidFill>
                          <a:effectLst/>
                          <a:uFillTx/>
                          <a:latin typeface="DejaVu Sans"/>
                          <a:ea typeface="DejaVu Sans"/>
                        </a:rPr>
                        <a:t>Atención</a:t>
                      </a:r>
                      <a:endParaRPr b="0" lang="es-ES" sz="1729" strike="noStrike" u="none">
                        <a:solidFill>
                          <a:srgbClr val="000000"/>
                        </a:solidFill>
                        <a:effectLst/>
                        <a:uFillTx/>
                        <a:latin typeface="Arial"/>
                      </a:endParaRPr>
                    </a:p>
                  </a:txBody>
                  <a:tcPr anchor="ctr" marL="91440" marR="91440">
                    <a:lnL w="9360">
                      <a:solidFill>
                        <a:srgbClr val="d9e3eb"/>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Repetir la consulta</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Solicitud con estado</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r>
              <a:tr h="666720">
                <a:tc>
                  <a:txBody>
                    <a:bodyPr anchor="ctr">
                      <a:noAutofit/>
                    </a:bodyPr>
                    <a:p>
                      <a:pPr>
                        <a:lnSpc>
                          <a:spcPct val="100000"/>
                        </a:lnSpc>
                      </a:pPr>
                      <a:r>
                        <a:rPr b="1" lang="es-ES" sz="1729" strike="noStrike" u="none">
                          <a:solidFill>
                            <a:srgbClr val="243b4b"/>
                          </a:solidFill>
                          <a:effectLst/>
                          <a:uFillTx/>
                          <a:latin typeface="DejaVu Sans"/>
                          <a:ea typeface="DejaVu Sans"/>
                        </a:rPr>
                        <a:t>Administración</a:t>
                      </a:r>
                      <a:endParaRPr b="0" lang="es-ES" sz="1729" strike="noStrike" u="none">
                        <a:solidFill>
                          <a:srgbClr val="000000"/>
                        </a:solidFill>
                        <a:effectLst/>
                        <a:uFillTx/>
                        <a:latin typeface="Arial"/>
                      </a:endParaRPr>
                    </a:p>
                  </a:txBody>
                  <a:tcPr anchor="ctr" marL="91440" marR="91440">
                    <a:lnL w="9360">
                      <a:solidFill>
                        <a:srgbClr val="d9e3eb"/>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Reunir información</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Módulos relacionados</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fffff"/>
                    </a:solidFill>
                  </a:tcPr>
                </a:tc>
              </a:tr>
              <a:tr h="666720">
                <a:tc>
                  <a:txBody>
                    <a:bodyPr anchor="ctr">
                      <a:noAutofit/>
                    </a:bodyPr>
                    <a:p>
                      <a:pPr>
                        <a:lnSpc>
                          <a:spcPct val="100000"/>
                        </a:lnSpc>
                      </a:pPr>
                      <a:r>
                        <a:rPr b="1" lang="es-ES" sz="1729" strike="noStrike" u="none">
                          <a:solidFill>
                            <a:srgbClr val="243b4b"/>
                          </a:solidFill>
                          <a:effectLst/>
                          <a:uFillTx/>
                          <a:latin typeface="DejaVu Sans"/>
                          <a:ea typeface="DejaVu Sans"/>
                        </a:rPr>
                        <a:t>Documentos</a:t>
                      </a:r>
                      <a:endParaRPr b="0" lang="es-ES" sz="1729" strike="noStrike" u="none">
                        <a:solidFill>
                          <a:srgbClr val="000000"/>
                        </a:solidFill>
                        <a:effectLst/>
                        <a:uFillTx/>
                        <a:latin typeface="Arial"/>
                      </a:endParaRPr>
                    </a:p>
                  </a:txBody>
                  <a:tcPr anchor="ctr" marL="91440" marR="91440">
                    <a:lnL w="9360">
                      <a:solidFill>
                        <a:srgbClr val="d9e3eb"/>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Conservar copias sueltas</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c>
                  <a:txBody>
                    <a:bodyPr anchor="ctr">
                      <a:noAutofit/>
                    </a:bodyPr>
                    <a:p>
                      <a:pPr>
                        <a:lnSpc>
                          <a:spcPct val="100000"/>
                        </a:lnSpc>
                      </a:pPr>
                      <a:r>
                        <a:rPr b="0" lang="es-ES" sz="1729" strike="noStrike" u="none">
                          <a:solidFill>
                            <a:srgbClr val="243b4b"/>
                          </a:solidFill>
                          <a:effectLst/>
                          <a:uFillTx/>
                          <a:latin typeface="DejaVu Sans"/>
                          <a:ea typeface="DejaVu Sans"/>
                        </a:rPr>
                        <a:t>Recibo y constancia PDF</a:t>
                      </a:r>
                      <a:endParaRPr b="0" lang="es-ES" sz="1729" strike="noStrike" u="none">
                        <a:solidFill>
                          <a:srgbClr val="000000"/>
                        </a:solidFill>
                        <a:effectLst/>
                        <a:uFillTx/>
                        <a:latin typeface="Arial"/>
                      </a:endParaRPr>
                    </a:p>
                  </a:txBody>
                  <a:tcPr anchor="ctr" marL="91440" marR="91440">
                    <a:lnL w="12240">
                      <a:solidFill>
                        <a:srgbClr val="000000"/>
                      </a:solidFill>
                      <a:prstDash val="solid"/>
                    </a:lnL>
                    <a:lnR w="9360">
                      <a:solidFill>
                        <a:srgbClr val="d9e3eb"/>
                      </a:solidFill>
                      <a:prstDash val="solid"/>
                    </a:lnR>
                    <a:lnT w="12240">
                      <a:solidFill>
                        <a:srgbClr val="000000"/>
                      </a:solidFill>
                      <a:prstDash val="solid"/>
                    </a:lnT>
                    <a:lnB w="9360">
                      <a:solidFill>
                        <a:srgbClr val="d9e3eb"/>
                      </a:solidFill>
                      <a:prstDash val="solid"/>
                    </a:lnB>
                    <a:solidFill>
                      <a:srgbClr val="f4f7fa"/>
                    </a:solidFill>
                  </a:tcPr>
                </a:tc>
              </a:tr>
            </a:tbl>
          </a:graphicData>
        </a:graphic>
      </p:graphicFrame>
      <p:sp>
        <p:nvSpPr>
          <p:cNvPr id="139" name="text-3"/>
          <p:cNvSpPr/>
          <p:nvPr/>
        </p:nvSpPr>
        <p:spPr>
          <a:xfrm>
            <a:off x="609480" y="5505480"/>
            <a:ext cx="108583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00" strike="noStrike" u="none">
                <a:solidFill>
                  <a:srgbClr val="075d91"/>
                </a:solidFill>
                <a:effectLst/>
                <a:uFillTx/>
                <a:latin typeface="DejaVu Sans"/>
                <a:ea typeface="DejaVu Sans"/>
              </a:rPr>
              <a:t>Capacidades observables del software</a:t>
            </a:r>
            <a:endParaRPr b="0" lang="en-US" sz="2100" strike="noStrike" u="none">
              <a:solidFill>
                <a:srgbClr val="000000"/>
              </a:solidFill>
              <a:effectLst/>
              <a:uFillTx/>
              <a:latin typeface="Arial"/>
            </a:endParaRPr>
          </a:p>
        </p:txBody>
      </p:sp>
      <p:sp>
        <p:nvSpPr>
          <p:cNvPr id="140" name="text-4"/>
          <p:cNvSpPr/>
          <p:nvPr/>
        </p:nvSpPr>
        <p:spPr>
          <a:xfrm>
            <a:off x="609480" y="5972040"/>
            <a:ext cx="1076292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650" strike="noStrike" u="none">
                <a:solidFill>
                  <a:srgbClr val="526879"/>
                </a:solidFill>
                <a:effectLst/>
                <a:uFillTx/>
                <a:latin typeface="DejaVu Sans"/>
                <a:ea typeface="DejaVu Sans"/>
              </a:rPr>
              <a:t>El impacto en tiempos y costos requiere un piloto medido.</a:t>
            </a:r>
            <a:endParaRPr b="0" lang="en-US" sz="1650" strike="noStrike" u="none">
              <a:solidFill>
                <a:srgbClr val="000000"/>
              </a:solidFill>
              <a:effectLst/>
              <a:uFillTx/>
              <a:latin typeface="Arial"/>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41" name=""/>
          <p:cNvCxnSpPr>
            <a:stCxn id="142" idx="3"/>
            <a:endCxn id="143" idx="1"/>
          </p:cNvCxnSpPr>
          <p:nvPr/>
        </p:nvCxnSpPr>
        <p:spPr>
          <a:xfrm>
            <a:off x="7619760" y="3195360"/>
            <a:ext cx="1276920" cy="360"/>
          </a:xfrm>
          <a:prstGeom prst="straightConnector1">
            <a:avLst/>
          </a:prstGeom>
          <a:ln w="23813">
            <a:solidFill>
              <a:srgbClr val="087e9e"/>
            </a:solidFill>
            <a:round/>
            <a:tailEnd len="med" type="triangle" w="med"/>
          </a:ln>
        </p:spPr>
      </p:cxnSp>
      <p:cxnSp>
        <p:nvCxnSpPr>
          <p:cNvPr id="144" name=""/>
          <p:cNvCxnSpPr>
            <a:stCxn id="145" idx="3"/>
            <a:endCxn id="142" idx="1"/>
          </p:cNvCxnSpPr>
          <p:nvPr/>
        </p:nvCxnSpPr>
        <p:spPr>
          <a:xfrm flipV="1">
            <a:off x="3466800" y="3195360"/>
            <a:ext cx="1296000" cy="771840"/>
          </a:xfrm>
          <a:prstGeom prst="straightConnector1">
            <a:avLst/>
          </a:prstGeom>
          <a:ln w="23813">
            <a:solidFill>
              <a:srgbClr val="087e9e"/>
            </a:solidFill>
            <a:round/>
            <a:tailEnd len="med" type="triangle" w="med"/>
          </a:ln>
        </p:spPr>
      </p:cxnSp>
      <p:cxnSp>
        <p:nvCxnSpPr>
          <p:cNvPr id="146" name=""/>
          <p:cNvCxnSpPr>
            <a:stCxn id="147" idx="3"/>
            <a:endCxn id="142" idx="1"/>
          </p:cNvCxnSpPr>
          <p:nvPr/>
        </p:nvCxnSpPr>
        <p:spPr>
          <a:xfrm>
            <a:off x="3466800" y="2414160"/>
            <a:ext cx="1296000" cy="781560"/>
          </a:xfrm>
          <a:prstGeom prst="straightConnector1">
            <a:avLst/>
          </a:prstGeom>
          <a:ln w="23813">
            <a:solidFill>
              <a:srgbClr val="087e9e"/>
            </a:solidFill>
            <a:round/>
            <a:tailEnd len="med" type="triangle" w="med"/>
          </a:ln>
        </p:spPr>
      </p:cxnSp>
      <p:sp>
        <p:nvSpPr>
          <p:cNvPr id="148"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Arquitectura con responsabilidades claras</a:t>
            </a:r>
            <a:endParaRPr b="0" lang="en-US" sz="3450" strike="noStrike" u="none">
              <a:solidFill>
                <a:srgbClr val="000000"/>
              </a:solidFill>
              <a:effectLst/>
              <a:uFillTx/>
              <a:latin typeface="Arial"/>
            </a:endParaRPr>
          </a:p>
        </p:txBody>
      </p:sp>
      <p:sp>
        <p:nvSpPr>
          <p:cNvPr id="149"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150"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10</a:t>
            </a:r>
            <a:endParaRPr b="0" lang="en-US" sz="1280" strike="noStrike" u="none">
              <a:solidFill>
                <a:srgbClr val="000000"/>
              </a:solidFill>
              <a:effectLst/>
              <a:uFillTx/>
              <a:latin typeface="Arial"/>
            </a:endParaRPr>
          </a:p>
        </p:txBody>
      </p:sp>
      <p:sp>
        <p:nvSpPr>
          <p:cNvPr id="147" name=""/>
          <p:cNvSpPr/>
          <p:nvPr/>
        </p:nvSpPr>
        <p:spPr>
          <a:xfrm>
            <a:off x="609480" y="1914480"/>
            <a:ext cx="2857320" cy="999720"/>
          </a:xfrm>
          <a:prstGeom prst="roundRect">
            <a:avLst>
              <a:gd name="adj" fmla="val 9524"/>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51" name="text-4"/>
          <p:cNvSpPr/>
          <p:nvPr/>
        </p:nvSpPr>
        <p:spPr>
          <a:xfrm>
            <a:off x="800280" y="2085840"/>
            <a:ext cx="24760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Android</a:t>
            </a:r>
            <a:endParaRPr b="0" lang="en-US" sz="1950" strike="noStrike" u="none">
              <a:solidFill>
                <a:srgbClr val="000000"/>
              </a:solidFill>
              <a:effectLst/>
              <a:uFillTx/>
              <a:latin typeface="Arial"/>
            </a:endParaRPr>
          </a:p>
        </p:txBody>
      </p:sp>
      <p:sp>
        <p:nvSpPr>
          <p:cNvPr id="152" name="text-5"/>
          <p:cNvSpPr/>
          <p:nvPr/>
        </p:nvSpPr>
        <p:spPr>
          <a:xfrm>
            <a:off x="800280" y="2438280"/>
            <a:ext cx="2476080" cy="447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Frontend + Capacitor</a:t>
            </a:r>
            <a:endParaRPr b="0" lang="en-US" sz="1430" strike="noStrike" u="none">
              <a:solidFill>
                <a:srgbClr val="000000"/>
              </a:solidFill>
              <a:effectLst/>
              <a:uFillTx/>
              <a:latin typeface="Arial"/>
            </a:endParaRPr>
          </a:p>
        </p:txBody>
      </p:sp>
      <p:sp>
        <p:nvSpPr>
          <p:cNvPr id="145" name=""/>
          <p:cNvSpPr/>
          <p:nvPr/>
        </p:nvSpPr>
        <p:spPr>
          <a:xfrm>
            <a:off x="609480" y="3467160"/>
            <a:ext cx="2857320" cy="999720"/>
          </a:xfrm>
          <a:prstGeom prst="roundRect">
            <a:avLst>
              <a:gd name="adj" fmla="val 9524"/>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53" name="text-7"/>
          <p:cNvSpPr/>
          <p:nvPr/>
        </p:nvSpPr>
        <p:spPr>
          <a:xfrm>
            <a:off x="800280" y="3638520"/>
            <a:ext cx="24760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Admin en Vercel</a:t>
            </a:r>
            <a:endParaRPr b="0" lang="en-US" sz="1950" strike="noStrike" u="none">
              <a:solidFill>
                <a:srgbClr val="000000"/>
              </a:solidFill>
              <a:effectLst/>
              <a:uFillTx/>
              <a:latin typeface="Arial"/>
            </a:endParaRPr>
          </a:p>
        </p:txBody>
      </p:sp>
      <p:sp>
        <p:nvSpPr>
          <p:cNvPr id="154" name="text-8"/>
          <p:cNvSpPr/>
          <p:nvPr/>
        </p:nvSpPr>
        <p:spPr>
          <a:xfrm>
            <a:off x="800280" y="3990960"/>
            <a:ext cx="2476080" cy="447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HTML, CSS y JavaScript</a:t>
            </a:r>
            <a:endParaRPr b="0" lang="en-US" sz="1430" strike="noStrike" u="none">
              <a:solidFill>
                <a:srgbClr val="000000"/>
              </a:solidFill>
              <a:effectLst/>
              <a:uFillTx/>
              <a:latin typeface="Arial"/>
            </a:endParaRPr>
          </a:p>
        </p:txBody>
      </p:sp>
      <p:sp>
        <p:nvSpPr>
          <p:cNvPr id="142" name=""/>
          <p:cNvSpPr/>
          <p:nvPr/>
        </p:nvSpPr>
        <p:spPr>
          <a:xfrm>
            <a:off x="4762440" y="2695680"/>
            <a:ext cx="2857320" cy="999720"/>
          </a:xfrm>
          <a:prstGeom prst="roundRect">
            <a:avLst>
              <a:gd name="adj" fmla="val 9524"/>
            </a:avLst>
          </a:prstGeom>
          <a:solidFill>
            <a:srgbClr val="075d91"/>
          </a:solidFill>
          <a:ln w="0">
            <a:noFill/>
          </a:ln>
        </p:spPr>
        <p:style>
          <a:lnRef idx="0"/>
          <a:fillRef idx="0"/>
          <a:effectRef idx="0"/>
          <a:fontRef idx="minor"/>
        </p:style>
        <p:txBody>
          <a:bodyPr lIns="90000" rIns="90000" tIns="45000" bIns="45000" anchor="t">
            <a:noAutofit/>
          </a:bodyPr>
          <a:p>
            <a:endParaRPr b="0" lang="es-ES" sz="1800" strike="noStrike" u="none">
              <a:solidFill>
                <a:srgbClr val="ffffff"/>
              </a:solidFill>
              <a:effectLst/>
              <a:uFillTx/>
              <a:latin typeface="Arial"/>
            </a:endParaRPr>
          </a:p>
        </p:txBody>
      </p:sp>
      <p:sp>
        <p:nvSpPr>
          <p:cNvPr id="155" name="text-10"/>
          <p:cNvSpPr/>
          <p:nvPr/>
        </p:nvSpPr>
        <p:spPr>
          <a:xfrm>
            <a:off x="4952880" y="2867040"/>
            <a:ext cx="247608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ffffff"/>
                </a:solidFill>
                <a:effectLst/>
                <a:uFillTx/>
                <a:latin typeface="DejaVu Sans"/>
                <a:ea typeface="DejaVu Sans"/>
              </a:rPr>
              <a:t>API en Render</a:t>
            </a:r>
            <a:endParaRPr b="0" lang="en-US" sz="1950" strike="noStrike" u="none">
              <a:solidFill>
                <a:srgbClr val="000000"/>
              </a:solidFill>
              <a:effectLst/>
              <a:uFillTx/>
              <a:latin typeface="Arial"/>
            </a:endParaRPr>
          </a:p>
        </p:txBody>
      </p:sp>
      <p:sp>
        <p:nvSpPr>
          <p:cNvPr id="156" name="text-11"/>
          <p:cNvSpPr/>
          <p:nvPr/>
        </p:nvSpPr>
        <p:spPr>
          <a:xfrm>
            <a:off x="4952880" y="3219480"/>
            <a:ext cx="2476080" cy="447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a9dbe5"/>
                </a:solidFill>
                <a:effectLst/>
                <a:uFillTx/>
                <a:latin typeface="DejaVu Sans"/>
                <a:ea typeface="DejaVu Sans"/>
              </a:rPr>
              <a:t>Node.js + Express</a:t>
            </a:r>
            <a:endParaRPr b="0" lang="en-US" sz="1430" strike="noStrike" u="none">
              <a:solidFill>
                <a:srgbClr val="000000"/>
              </a:solidFill>
              <a:effectLst/>
              <a:uFillTx/>
              <a:latin typeface="Arial"/>
            </a:endParaRPr>
          </a:p>
        </p:txBody>
      </p:sp>
      <p:sp>
        <p:nvSpPr>
          <p:cNvPr id="143" name=""/>
          <p:cNvSpPr/>
          <p:nvPr/>
        </p:nvSpPr>
        <p:spPr>
          <a:xfrm>
            <a:off x="8896320" y="2695680"/>
            <a:ext cx="2685600" cy="999720"/>
          </a:xfrm>
          <a:prstGeom prst="roundRect">
            <a:avLst>
              <a:gd name="adj" fmla="val 9524"/>
            </a:avLst>
          </a:prstGeom>
          <a:solidFill>
            <a:srgbClr val="e9f5f8"/>
          </a:solidFill>
          <a:ln w="0">
            <a:noFill/>
          </a:ln>
        </p:spPr>
        <p:style>
          <a:lnRef idx="0"/>
          <a:fillRef idx="0"/>
          <a:effectRef idx="0"/>
          <a:fontRef idx="minor"/>
        </p:style>
        <p:txBody>
          <a:bodyPr lIns="90000" rIns="90000" tIns="45000" bIns="45000" anchor="t">
            <a:noAutofit/>
          </a:bodyPr>
          <a:p>
            <a:endParaRPr b="0" lang="es-ES" sz="1800" strike="noStrike" u="none">
              <a:solidFill>
                <a:srgbClr val="000000"/>
              </a:solidFill>
              <a:effectLst/>
              <a:uFillTx/>
              <a:latin typeface="Arial"/>
            </a:endParaRPr>
          </a:p>
        </p:txBody>
      </p:sp>
      <p:sp>
        <p:nvSpPr>
          <p:cNvPr id="157" name="text-13"/>
          <p:cNvSpPr/>
          <p:nvPr/>
        </p:nvSpPr>
        <p:spPr>
          <a:xfrm>
            <a:off x="9086760" y="2867040"/>
            <a:ext cx="2304720" cy="342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103e60"/>
                </a:solidFill>
                <a:effectLst/>
                <a:uFillTx/>
                <a:latin typeface="DejaVu Sans"/>
                <a:ea typeface="DejaVu Sans"/>
              </a:rPr>
              <a:t>Datos en Neon</a:t>
            </a:r>
            <a:endParaRPr b="0" lang="en-US" sz="1950" strike="noStrike" u="none">
              <a:solidFill>
                <a:srgbClr val="000000"/>
              </a:solidFill>
              <a:effectLst/>
              <a:uFillTx/>
              <a:latin typeface="Arial"/>
            </a:endParaRPr>
          </a:p>
        </p:txBody>
      </p:sp>
      <p:sp>
        <p:nvSpPr>
          <p:cNvPr id="158" name="text-14"/>
          <p:cNvSpPr/>
          <p:nvPr/>
        </p:nvSpPr>
        <p:spPr>
          <a:xfrm>
            <a:off x="9086760" y="3219480"/>
            <a:ext cx="2304720" cy="447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PostgreSQL con TLS</a:t>
            </a:r>
            <a:endParaRPr b="0" lang="en-US" sz="1430" strike="noStrike" u="none">
              <a:solidFill>
                <a:srgbClr val="000000"/>
              </a:solidFill>
              <a:effectLst/>
              <a:uFillTx/>
              <a:latin typeface="Arial"/>
            </a:endParaRPr>
          </a:p>
        </p:txBody>
      </p:sp>
      <p:sp>
        <p:nvSpPr>
          <p:cNvPr id="159" name="text-18"/>
          <p:cNvSpPr/>
          <p:nvPr/>
        </p:nvSpPr>
        <p:spPr>
          <a:xfrm>
            <a:off x="3505320" y="1676520"/>
            <a:ext cx="1218960" cy="11710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s-ES" sz="1350" strike="noStrike" u="none">
                <a:solidFill>
                  <a:srgbClr val="075d91"/>
                </a:solidFill>
                <a:effectLst/>
                <a:uFillTx/>
                <a:latin typeface="DejaVu Sans"/>
                <a:ea typeface="DejaVu Sans"/>
              </a:rPr>
              <a:t>HTTPS</a:t>
            </a:r>
            <a:endParaRPr b="0" lang="es-ES" sz="1350" strike="noStrike" u="none">
              <a:solidFill>
                <a:srgbClr val="000000"/>
              </a:solidFill>
              <a:effectLst/>
              <a:uFillTx/>
              <a:latin typeface="Arial"/>
            </a:endParaRPr>
          </a:p>
          <a:p>
            <a:pPr algn="ctr">
              <a:lnSpc>
                <a:spcPct val="100000"/>
              </a:lnSpc>
            </a:pPr>
            <a:r>
              <a:rPr b="0" lang="es-ES" sz="1350" strike="noStrike" u="none">
                <a:solidFill>
                  <a:srgbClr val="075d91"/>
                </a:solidFill>
                <a:effectLst/>
                <a:uFillTx/>
                <a:latin typeface="DejaVu Sans"/>
                <a:ea typeface="DejaVu Sans"/>
              </a:rPr>
              <a:t>REST + Socket.IO</a:t>
            </a:r>
            <a:endParaRPr b="0" lang="es-ES" sz="1350" strike="noStrike" u="none">
              <a:solidFill>
                <a:srgbClr val="000000"/>
              </a:solidFill>
              <a:effectLst/>
              <a:uFillTx/>
              <a:latin typeface="Arial"/>
            </a:endParaRPr>
          </a:p>
        </p:txBody>
      </p:sp>
      <p:sp>
        <p:nvSpPr>
          <p:cNvPr id="160" name="text-19"/>
          <p:cNvSpPr/>
          <p:nvPr/>
        </p:nvSpPr>
        <p:spPr>
          <a:xfrm>
            <a:off x="7715160" y="2600280"/>
            <a:ext cx="1095120" cy="3330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s-ES" sz="1350" strike="noStrike" u="none">
                <a:solidFill>
                  <a:srgbClr val="075d91"/>
                </a:solidFill>
                <a:effectLst/>
                <a:uFillTx/>
                <a:latin typeface="DejaVu Sans"/>
                <a:ea typeface="DejaVu Sans"/>
              </a:rPr>
              <a:t>SQL / TLS</a:t>
            </a:r>
            <a:endParaRPr b="0" lang="es-ES" sz="1350" strike="noStrike" u="none">
              <a:solidFill>
                <a:srgbClr val="000000"/>
              </a:solidFill>
              <a:effectLst/>
              <a:uFillTx/>
              <a:latin typeface="Arial"/>
            </a:endParaRPr>
          </a:p>
        </p:txBody>
      </p:sp>
      <p:sp>
        <p:nvSpPr>
          <p:cNvPr id="161" name="text-20"/>
          <p:cNvSpPr/>
          <p:nvPr/>
        </p:nvSpPr>
        <p:spPr>
          <a:xfrm>
            <a:off x="609480" y="4933800"/>
            <a:ext cx="5238360" cy="3236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Relaciones del esquema base</a:t>
            </a:r>
            <a:endParaRPr b="0" lang="en-US" sz="1729" strike="noStrike" u="none">
              <a:solidFill>
                <a:srgbClr val="000000"/>
              </a:solidFill>
              <a:effectLst/>
              <a:uFillTx/>
              <a:latin typeface="Arial"/>
            </a:endParaRPr>
          </a:p>
        </p:txBody>
      </p:sp>
      <p:sp>
        <p:nvSpPr>
          <p:cNvPr id="162" name="text-21"/>
          <p:cNvSpPr/>
          <p:nvPr/>
        </p:nvSpPr>
        <p:spPr>
          <a:xfrm>
            <a:off x="609480" y="5372280"/>
            <a:ext cx="1093428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950" strike="noStrike" u="none">
                <a:solidFill>
                  <a:srgbClr val="075d91"/>
                </a:solidFill>
                <a:effectLst/>
                <a:uFillTx/>
                <a:latin typeface="DejaVu Sans"/>
                <a:ea typeface="DejaVu Sans"/>
              </a:rPr>
              <a:t>Usuario    1:N    Suministro    1:N    Recibo    1:N    Pago</a:t>
            </a:r>
            <a:endParaRPr b="0" lang="en-US" sz="1950" strike="noStrike" u="none">
              <a:solidFill>
                <a:srgbClr val="000000"/>
              </a:solidFill>
              <a:effectLst/>
              <a:uFillTx/>
              <a:latin typeface="Arial"/>
            </a:endParaRPr>
          </a:p>
        </p:txBody>
      </p:sp>
      <p:sp>
        <p:nvSpPr>
          <p:cNvPr id="163" name="text-22"/>
          <p:cNvSpPr/>
          <p:nvPr/>
        </p:nvSpPr>
        <p:spPr>
          <a:xfrm>
            <a:off x="609480" y="5943600"/>
            <a:ext cx="108583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50" strike="noStrike" u="none">
                <a:solidFill>
                  <a:srgbClr val="526879"/>
                </a:solidFill>
                <a:effectLst/>
                <a:uFillTx/>
                <a:latin typeface="DejaVu Sans"/>
                <a:ea typeface="DejaVu Sans"/>
              </a:rPr>
              <a:t>Local: Docker Compose y Kubernetes (K8s) con Kind: web, Admin, API y PostgreSQL. Datos independientes de Neon.</a:t>
            </a:r>
            <a:endParaRPr b="0" lang="en-US" sz="1350" strike="noStrike" u="none">
              <a:solidFill>
                <a:srgbClr val="000000"/>
              </a:solidFill>
              <a:effectLst/>
              <a:uFillTx/>
              <a:latin typeface="Arial"/>
            </a:endParaRPr>
          </a:p>
        </p:txBody>
      </p:sp>
    </p:spTree>
  </p:cSld>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Tecnologías elegidas por su función</a:t>
            </a:r>
            <a:endParaRPr b="0" lang="en-US" sz="3450" strike="noStrike" u="none">
              <a:solidFill>
                <a:srgbClr val="000000"/>
              </a:solidFill>
              <a:effectLst/>
              <a:uFillTx/>
              <a:latin typeface="Arial"/>
            </a:endParaRPr>
          </a:p>
        </p:txBody>
      </p:sp>
      <p:sp>
        <p:nvSpPr>
          <p:cNvPr id="165"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166"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11</a:t>
            </a:r>
            <a:endParaRPr b="0" lang="en-US" sz="1280" strike="noStrike" u="none">
              <a:solidFill>
                <a:srgbClr val="000000"/>
              </a:solidFill>
              <a:effectLst/>
              <a:uFillTx/>
              <a:latin typeface="Arial"/>
            </a:endParaRPr>
          </a:p>
        </p:txBody>
      </p:sp>
      <p:sp>
        <p:nvSpPr>
          <p:cNvPr id="167" name=""/>
          <p:cNvSpPr/>
          <p:nvPr/>
        </p:nvSpPr>
        <p:spPr>
          <a:xfrm>
            <a:off x="609480" y="228600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68" name="text-4"/>
          <p:cNvSpPr/>
          <p:nvPr/>
        </p:nvSpPr>
        <p:spPr>
          <a:xfrm>
            <a:off x="609480" y="172404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Interfaz</a:t>
            </a:r>
            <a:endParaRPr b="0" lang="en-US" sz="1729" strike="noStrike" u="none">
              <a:solidFill>
                <a:srgbClr val="000000"/>
              </a:solidFill>
              <a:effectLst/>
              <a:uFillTx/>
              <a:latin typeface="Arial"/>
            </a:endParaRPr>
          </a:p>
        </p:txBody>
      </p:sp>
      <p:pic>
        <p:nvPicPr>
          <p:cNvPr id="169" name="" descr=""/>
          <p:cNvPicPr/>
          <p:nvPr/>
        </p:nvPicPr>
        <p:blipFill>
          <a:blip r:embed="rId1"/>
          <a:stretch/>
        </p:blipFill>
        <p:spPr>
          <a:xfrm>
            <a:off x="2495520" y="1743120"/>
            <a:ext cx="285480" cy="285480"/>
          </a:xfrm>
          <a:prstGeom prst="rect">
            <a:avLst/>
          </a:prstGeom>
          <a:noFill/>
          <a:ln w="0">
            <a:noFill/>
          </a:ln>
        </p:spPr>
      </p:pic>
      <p:pic>
        <p:nvPicPr>
          <p:cNvPr id="170" name="" descr=""/>
          <p:cNvPicPr/>
          <p:nvPr/>
        </p:nvPicPr>
        <p:blipFill>
          <a:blip r:embed="rId2"/>
          <a:stretch/>
        </p:blipFill>
        <p:spPr>
          <a:xfrm>
            <a:off x="2895480" y="1743120"/>
            <a:ext cx="285480" cy="285480"/>
          </a:xfrm>
          <a:prstGeom prst="rect">
            <a:avLst/>
          </a:prstGeom>
          <a:noFill/>
          <a:ln w="0">
            <a:noFill/>
          </a:ln>
        </p:spPr>
      </p:pic>
      <p:pic>
        <p:nvPicPr>
          <p:cNvPr id="171" name="" descr=""/>
          <p:cNvPicPr/>
          <p:nvPr/>
        </p:nvPicPr>
        <p:blipFill>
          <a:blip r:embed="rId3"/>
          <a:stretch/>
        </p:blipFill>
        <p:spPr>
          <a:xfrm>
            <a:off x="3295800" y="1743120"/>
            <a:ext cx="285480" cy="285480"/>
          </a:xfrm>
          <a:prstGeom prst="rect">
            <a:avLst/>
          </a:prstGeom>
          <a:noFill/>
          <a:ln w="0">
            <a:noFill/>
          </a:ln>
        </p:spPr>
      </p:pic>
      <p:pic>
        <p:nvPicPr>
          <p:cNvPr id="172" name="" descr=""/>
          <p:cNvPicPr/>
          <p:nvPr/>
        </p:nvPicPr>
        <p:blipFill>
          <a:blip r:embed="rId4"/>
          <a:stretch/>
        </p:blipFill>
        <p:spPr>
          <a:xfrm>
            <a:off x="3695760" y="1743120"/>
            <a:ext cx="285480" cy="285480"/>
          </a:xfrm>
          <a:prstGeom prst="rect">
            <a:avLst/>
          </a:prstGeom>
          <a:noFill/>
          <a:ln w="0">
            <a:noFill/>
          </a:ln>
        </p:spPr>
      </p:pic>
      <p:sp>
        <p:nvSpPr>
          <p:cNvPr id="173" name="text-5"/>
          <p:cNvSpPr/>
          <p:nvPr/>
        </p:nvSpPr>
        <p:spPr>
          <a:xfrm>
            <a:off x="4809960" y="165744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HTML, CSS, JavaScript, Capacitor</a:t>
            </a:r>
            <a:endParaRPr b="0" lang="en-US" sz="1729" strike="noStrike" u="none">
              <a:solidFill>
                <a:srgbClr val="000000"/>
              </a:solidFill>
              <a:effectLst/>
              <a:uFillTx/>
              <a:latin typeface="Arial"/>
            </a:endParaRPr>
          </a:p>
        </p:txBody>
      </p:sp>
      <p:sp>
        <p:nvSpPr>
          <p:cNvPr id="174" name="text-6"/>
          <p:cNvSpPr/>
          <p:nvPr/>
        </p:nvSpPr>
        <p:spPr>
          <a:xfrm>
            <a:off x="4809960" y="198108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Interfaz común para web y Android</a:t>
            </a:r>
            <a:endParaRPr b="0" lang="en-US" sz="1430" strike="noStrike" u="none">
              <a:solidFill>
                <a:srgbClr val="000000"/>
              </a:solidFill>
              <a:effectLst/>
              <a:uFillTx/>
              <a:latin typeface="Arial"/>
            </a:endParaRPr>
          </a:p>
        </p:txBody>
      </p:sp>
      <p:sp>
        <p:nvSpPr>
          <p:cNvPr id="175" name=""/>
          <p:cNvSpPr/>
          <p:nvPr/>
        </p:nvSpPr>
        <p:spPr>
          <a:xfrm>
            <a:off x="609480" y="303840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76" name="text-8"/>
          <p:cNvSpPr/>
          <p:nvPr/>
        </p:nvSpPr>
        <p:spPr>
          <a:xfrm>
            <a:off x="609480" y="247644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Servidor</a:t>
            </a:r>
            <a:endParaRPr b="0" lang="en-US" sz="1729" strike="noStrike" u="none">
              <a:solidFill>
                <a:srgbClr val="000000"/>
              </a:solidFill>
              <a:effectLst/>
              <a:uFillTx/>
              <a:latin typeface="Arial"/>
            </a:endParaRPr>
          </a:p>
        </p:txBody>
      </p:sp>
      <p:pic>
        <p:nvPicPr>
          <p:cNvPr id="177" name="" descr=""/>
          <p:cNvPicPr/>
          <p:nvPr/>
        </p:nvPicPr>
        <p:blipFill>
          <a:blip r:embed="rId5"/>
          <a:stretch/>
        </p:blipFill>
        <p:spPr>
          <a:xfrm>
            <a:off x="2495520" y="2495520"/>
            <a:ext cx="285480" cy="285480"/>
          </a:xfrm>
          <a:prstGeom prst="rect">
            <a:avLst/>
          </a:prstGeom>
          <a:noFill/>
          <a:ln w="0">
            <a:noFill/>
          </a:ln>
        </p:spPr>
      </p:pic>
      <p:pic>
        <p:nvPicPr>
          <p:cNvPr id="178" name="" descr=""/>
          <p:cNvPicPr/>
          <p:nvPr/>
        </p:nvPicPr>
        <p:blipFill>
          <a:blip r:embed="rId6"/>
          <a:stretch/>
        </p:blipFill>
        <p:spPr>
          <a:xfrm>
            <a:off x="2895480" y="2495520"/>
            <a:ext cx="285480" cy="285480"/>
          </a:xfrm>
          <a:prstGeom prst="rect">
            <a:avLst/>
          </a:prstGeom>
          <a:noFill/>
          <a:ln w="0">
            <a:noFill/>
          </a:ln>
        </p:spPr>
      </p:pic>
      <p:sp>
        <p:nvSpPr>
          <p:cNvPr id="179" name="text-9"/>
          <p:cNvSpPr/>
          <p:nvPr/>
        </p:nvSpPr>
        <p:spPr>
          <a:xfrm>
            <a:off x="4809960" y="240984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Node.js y Express</a:t>
            </a:r>
            <a:endParaRPr b="0" lang="en-US" sz="1729" strike="noStrike" u="none">
              <a:solidFill>
                <a:srgbClr val="000000"/>
              </a:solidFill>
              <a:effectLst/>
              <a:uFillTx/>
              <a:latin typeface="Arial"/>
            </a:endParaRPr>
          </a:p>
        </p:txBody>
      </p:sp>
      <p:sp>
        <p:nvSpPr>
          <p:cNvPr id="180" name="text-10"/>
          <p:cNvSpPr/>
          <p:nvPr/>
        </p:nvSpPr>
        <p:spPr>
          <a:xfrm>
            <a:off x="4809960" y="273384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Reglas de negocio y API HTTP</a:t>
            </a:r>
            <a:endParaRPr b="0" lang="en-US" sz="1430" strike="noStrike" u="none">
              <a:solidFill>
                <a:srgbClr val="000000"/>
              </a:solidFill>
              <a:effectLst/>
              <a:uFillTx/>
              <a:latin typeface="Arial"/>
            </a:endParaRPr>
          </a:p>
        </p:txBody>
      </p:sp>
      <p:sp>
        <p:nvSpPr>
          <p:cNvPr id="181" name=""/>
          <p:cNvSpPr/>
          <p:nvPr/>
        </p:nvSpPr>
        <p:spPr>
          <a:xfrm>
            <a:off x="609480" y="379080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82" name="text-12"/>
          <p:cNvSpPr/>
          <p:nvPr/>
        </p:nvSpPr>
        <p:spPr>
          <a:xfrm>
            <a:off x="609480" y="322884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Datos</a:t>
            </a:r>
            <a:endParaRPr b="0" lang="en-US" sz="1729" strike="noStrike" u="none">
              <a:solidFill>
                <a:srgbClr val="000000"/>
              </a:solidFill>
              <a:effectLst/>
              <a:uFillTx/>
              <a:latin typeface="Arial"/>
            </a:endParaRPr>
          </a:p>
        </p:txBody>
      </p:sp>
      <p:pic>
        <p:nvPicPr>
          <p:cNvPr id="183" name="" descr=""/>
          <p:cNvPicPr/>
          <p:nvPr/>
        </p:nvPicPr>
        <p:blipFill>
          <a:blip r:embed="rId7"/>
          <a:stretch/>
        </p:blipFill>
        <p:spPr>
          <a:xfrm>
            <a:off x="2495520" y="3247920"/>
            <a:ext cx="285480" cy="285480"/>
          </a:xfrm>
          <a:prstGeom prst="rect">
            <a:avLst/>
          </a:prstGeom>
          <a:noFill/>
          <a:ln w="0">
            <a:noFill/>
          </a:ln>
        </p:spPr>
      </p:pic>
      <p:sp>
        <p:nvSpPr>
          <p:cNvPr id="184" name="text-13"/>
          <p:cNvSpPr/>
          <p:nvPr/>
        </p:nvSpPr>
        <p:spPr>
          <a:xfrm>
            <a:off x="4809960" y="316224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PostgreSQL</a:t>
            </a:r>
            <a:endParaRPr b="0" lang="en-US" sz="1729" strike="noStrike" u="none">
              <a:solidFill>
                <a:srgbClr val="000000"/>
              </a:solidFill>
              <a:effectLst/>
              <a:uFillTx/>
              <a:latin typeface="Arial"/>
            </a:endParaRPr>
          </a:p>
        </p:txBody>
      </p:sp>
      <p:sp>
        <p:nvSpPr>
          <p:cNvPr id="185" name="text-14"/>
          <p:cNvSpPr/>
          <p:nvPr/>
        </p:nvSpPr>
        <p:spPr>
          <a:xfrm>
            <a:off x="4809960" y="348624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Relaciones y transacciones</a:t>
            </a:r>
            <a:endParaRPr b="0" lang="en-US" sz="1430" strike="noStrike" u="none">
              <a:solidFill>
                <a:srgbClr val="000000"/>
              </a:solidFill>
              <a:effectLst/>
              <a:uFillTx/>
              <a:latin typeface="Arial"/>
            </a:endParaRPr>
          </a:p>
        </p:txBody>
      </p:sp>
      <p:sp>
        <p:nvSpPr>
          <p:cNvPr id="186" name=""/>
          <p:cNvSpPr/>
          <p:nvPr/>
        </p:nvSpPr>
        <p:spPr>
          <a:xfrm>
            <a:off x="609480" y="454356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87" name="text-16"/>
          <p:cNvSpPr/>
          <p:nvPr/>
        </p:nvSpPr>
        <p:spPr>
          <a:xfrm>
            <a:off x="609480" y="398160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Seguridad</a:t>
            </a:r>
            <a:endParaRPr b="0" lang="en-US" sz="1729" strike="noStrike" u="none">
              <a:solidFill>
                <a:srgbClr val="000000"/>
              </a:solidFill>
              <a:effectLst/>
              <a:uFillTx/>
              <a:latin typeface="Arial"/>
            </a:endParaRPr>
          </a:p>
        </p:txBody>
      </p:sp>
      <p:pic>
        <p:nvPicPr>
          <p:cNvPr id="188" name="" descr=""/>
          <p:cNvPicPr/>
          <p:nvPr/>
        </p:nvPicPr>
        <p:blipFill>
          <a:blip r:embed="rId8"/>
          <a:stretch/>
        </p:blipFill>
        <p:spPr>
          <a:xfrm>
            <a:off x="2495520" y="4000680"/>
            <a:ext cx="285480" cy="285480"/>
          </a:xfrm>
          <a:prstGeom prst="rect">
            <a:avLst/>
          </a:prstGeom>
          <a:noFill/>
          <a:ln w="0">
            <a:noFill/>
          </a:ln>
        </p:spPr>
      </p:pic>
      <p:sp>
        <p:nvSpPr>
          <p:cNvPr id="189" name="text-17"/>
          <p:cNvSpPr/>
          <p:nvPr/>
        </p:nvSpPr>
        <p:spPr>
          <a:xfrm>
            <a:off x="4809960" y="391464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JWT y scrypt</a:t>
            </a:r>
            <a:endParaRPr b="0" lang="en-US" sz="1729" strike="noStrike" u="none">
              <a:solidFill>
                <a:srgbClr val="000000"/>
              </a:solidFill>
              <a:effectLst/>
              <a:uFillTx/>
              <a:latin typeface="Arial"/>
            </a:endParaRPr>
          </a:p>
        </p:txBody>
      </p:sp>
      <p:sp>
        <p:nvSpPr>
          <p:cNvPr id="190" name="text-18"/>
          <p:cNvSpPr/>
          <p:nvPr/>
        </p:nvSpPr>
        <p:spPr>
          <a:xfrm>
            <a:off x="4809960" y="423864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Identidad y protección de contraseñas</a:t>
            </a:r>
            <a:endParaRPr b="0" lang="en-US" sz="1430" strike="noStrike" u="none">
              <a:solidFill>
                <a:srgbClr val="000000"/>
              </a:solidFill>
              <a:effectLst/>
              <a:uFillTx/>
              <a:latin typeface="Arial"/>
            </a:endParaRPr>
          </a:p>
        </p:txBody>
      </p:sp>
      <p:sp>
        <p:nvSpPr>
          <p:cNvPr id="191" name=""/>
          <p:cNvSpPr/>
          <p:nvPr/>
        </p:nvSpPr>
        <p:spPr>
          <a:xfrm>
            <a:off x="609480" y="529596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92" name="text-20"/>
          <p:cNvSpPr/>
          <p:nvPr/>
        </p:nvSpPr>
        <p:spPr>
          <a:xfrm>
            <a:off x="609480" y="473400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Comunicación</a:t>
            </a:r>
            <a:endParaRPr b="0" lang="en-US" sz="1729" strike="noStrike" u="none">
              <a:solidFill>
                <a:srgbClr val="000000"/>
              </a:solidFill>
              <a:effectLst/>
              <a:uFillTx/>
              <a:latin typeface="Arial"/>
            </a:endParaRPr>
          </a:p>
        </p:txBody>
      </p:sp>
      <p:pic>
        <p:nvPicPr>
          <p:cNvPr id="193" name="" descr=""/>
          <p:cNvPicPr/>
          <p:nvPr/>
        </p:nvPicPr>
        <p:blipFill>
          <a:blip r:embed="rId9"/>
          <a:stretch/>
        </p:blipFill>
        <p:spPr>
          <a:xfrm>
            <a:off x="2495520" y="4753080"/>
            <a:ext cx="285480" cy="285480"/>
          </a:xfrm>
          <a:prstGeom prst="rect">
            <a:avLst/>
          </a:prstGeom>
          <a:noFill/>
          <a:ln w="0">
            <a:noFill/>
          </a:ln>
        </p:spPr>
      </p:pic>
      <p:sp>
        <p:nvSpPr>
          <p:cNvPr id="194" name="text-21"/>
          <p:cNvSpPr/>
          <p:nvPr/>
        </p:nvSpPr>
        <p:spPr>
          <a:xfrm>
            <a:off x="4809960" y="466740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Socket.IO</a:t>
            </a:r>
            <a:endParaRPr b="0" lang="en-US" sz="1729" strike="noStrike" u="none">
              <a:solidFill>
                <a:srgbClr val="000000"/>
              </a:solidFill>
              <a:effectLst/>
              <a:uFillTx/>
              <a:latin typeface="Arial"/>
            </a:endParaRPr>
          </a:p>
        </p:txBody>
      </p:sp>
      <p:sp>
        <p:nvSpPr>
          <p:cNvPr id="195" name="text-22"/>
          <p:cNvSpPr/>
          <p:nvPr/>
        </p:nvSpPr>
        <p:spPr>
          <a:xfrm>
            <a:off x="4809960" y="499104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Avisos y recuperación por REST</a:t>
            </a:r>
            <a:endParaRPr b="0" lang="en-US" sz="1430" strike="noStrike" u="none">
              <a:solidFill>
                <a:srgbClr val="000000"/>
              </a:solidFill>
              <a:effectLst/>
              <a:uFillTx/>
              <a:latin typeface="Arial"/>
            </a:endParaRPr>
          </a:p>
        </p:txBody>
      </p:sp>
      <p:sp>
        <p:nvSpPr>
          <p:cNvPr id="196" name=""/>
          <p:cNvSpPr/>
          <p:nvPr/>
        </p:nvSpPr>
        <p:spPr>
          <a:xfrm>
            <a:off x="609480" y="6048360"/>
            <a:ext cx="1097244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197" name="text-24"/>
          <p:cNvSpPr/>
          <p:nvPr/>
        </p:nvSpPr>
        <p:spPr>
          <a:xfrm>
            <a:off x="609480" y="5486400"/>
            <a:ext cx="176184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087e9e"/>
                </a:solidFill>
                <a:effectLst/>
                <a:uFillTx/>
                <a:latin typeface="DejaVu Sans"/>
                <a:ea typeface="DejaVu Sans"/>
              </a:rPr>
              <a:t>Despliegue</a:t>
            </a:r>
            <a:endParaRPr b="0" lang="en-US" sz="1729" strike="noStrike" u="none">
              <a:solidFill>
                <a:srgbClr val="000000"/>
              </a:solidFill>
              <a:effectLst/>
              <a:uFillTx/>
              <a:latin typeface="Arial"/>
            </a:endParaRPr>
          </a:p>
        </p:txBody>
      </p:sp>
      <p:pic>
        <p:nvPicPr>
          <p:cNvPr id="198" name="" descr=""/>
          <p:cNvPicPr/>
          <p:nvPr/>
        </p:nvPicPr>
        <p:blipFill>
          <a:blip r:embed="rId10"/>
          <a:stretch/>
        </p:blipFill>
        <p:spPr>
          <a:xfrm>
            <a:off x="2495520" y="5505480"/>
            <a:ext cx="285480" cy="285480"/>
          </a:xfrm>
          <a:prstGeom prst="rect">
            <a:avLst/>
          </a:prstGeom>
          <a:noFill/>
          <a:ln w="0">
            <a:noFill/>
          </a:ln>
        </p:spPr>
      </p:pic>
      <p:pic>
        <p:nvPicPr>
          <p:cNvPr id="199" name="" descr=""/>
          <p:cNvPicPr/>
          <p:nvPr/>
        </p:nvPicPr>
        <p:blipFill>
          <a:blip r:embed="rId11"/>
          <a:stretch/>
        </p:blipFill>
        <p:spPr>
          <a:xfrm>
            <a:off x="2895480" y="5505480"/>
            <a:ext cx="285480" cy="285480"/>
          </a:xfrm>
          <a:prstGeom prst="rect">
            <a:avLst/>
          </a:prstGeom>
          <a:noFill/>
          <a:ln w="0">
            <a:noFill/>
          </a:ln>
        </p:spPr>
      </p:pic>
      <p:pic>
        <p:nvPicPr>
          <p:cNvPr id="200" name="" descr=""/>
          <p:cNvPicPr/>
          <p:nvPr/>
        </p:nvPicPr>
        <p:blipFill>
          <a:blip r:embed="rId12"/>
          <a:stretch/>
        </p:blipFill>
        <p:spPr>
          <a:xfrm>
            <a:off x="3295800" y="5505480"/>
            <a:ext cx="285480" cy="285480"/>
          </a:xfrm>
          <a:prstGeom prst="rect">
            <a:avLst/>
          </a:prstGeom>
          <a:noFill/>
          <a:ln w="0">
            <a:noFill/>
          </a:ln>
        </p:spPr>
      </p:pic>
      <p:pic>
        <p:nvPicPr>
          <p:cNvPr id="201" name="" descr=""/>
          <p:cNvPicPr/>
          <p:nvPr/>
        </p:nvPicPr>
        <p:blipFill>
          <a:blip r:embed="rId13"/>
          <a:stretch/>
        </p:blipFill>
        <p:spPr>
          <a:xfrm>
            <a:off x="3695760" y="5505480"/>
            <a:ext cx="285480" cy="285480"/>
          </a:xfrm>
          <a:prstGeom prst="rect">
            <a:avLst/>
          </a:prstGeom>
          <a:noFill/>
          <a:ln w="0">
            <a:noFill/>
          </a:ln>
        </p:spPr>
      </p:pic>
      <p:pic>
        <p:nvPicPr>
          <p:cNvPr id="202" name="" descr=""/>
          <p:cNvPicPr/>
          <p:nvPr/>
        </p:nvPicPr>
        <p:blipFill>
          <a:blip r:embed="rId14"/>
          <a:stretch/>
        </p:blipFill>
        <p:spPr>
          <a:xfrm>
            <a:off x="4095720" y="5505480"/>
            <a:ext cx="285480" cy="285480"/>
          </a:xfrm>
          <a:prstGeom prst="rect">
            <a:avLst/>
          </a:prstGeom>
          <a:noFill/>
          <a:ln w="0">
            <a:noFill/>
          </a:ln>
        </p:spPr>
      </p:pic>
      <p:sp>
        <p:nvSpPr>
          <p:cNvPr id="203" name="text-25"/>
          <p:cNvSpPr/>
          <p:nvPr/>
        </p:nvSpPr>
        <p:spPr>
          <a:xfrm>
            <a:off x="4809960" y="5419800"/>
            <a:ext cx="6762240" cy="313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729" strike="noStrike" u="none">
                <a:solidFill>
                  <a:srgbClr val="103e60"/>
                </a:solidFill>
                <a:effectLst/>
                <a:uFillTx/>
                <a:latin typeface="DejaVu Sans"/>
                <a:ea typeface="DejaVu Sans"/>
              </a:rPr>
              <a:t>Docker, Kubernetes (K8s) y nube</a:t>
            </a:r>
            <a:endParaRPr b="0" lang="en-US" sz="1729" strike="noStrike" u="none">
              <a:solidFill>
                <a:srgbClr val="000000"/>
              </a:solidFill>
              <a:effectLst/>
              <a:uFillTx/>
              <a:latin typeface="Arial"/>
            </a:endParaRPr>
          </a:p>
        </p:txBody>
      </p:sp>
      <p:sp>
        <p:nvSpPr>
          <p:cNvPr id="204" name="text-26"/>
          <p:cNvSpPr/>
          <p:nvPr/>
        </p:nvSpPr>
        <p:spPr>
          <a:xfrm>
            <a:off x="4809960" y="5743440"/>
            <a:ext cx="666720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526879"/>
                </a:solidFill>
                <a:effectLst/>
                <a:uFillTx/>
                <a:latin typeface="DejaVu Sans"/>
                <a:ea typeface="DejaVu Sans"/>
              </a:rPr>
              <a:t>K8s local: contenedores y persistencia</a:t>
            </a:r>
            <a:endParaRPr b="0" lang="en-US" sz="1430" strike="noStrike" u="none">
              <a:solidFill>
                <a:srgbClr val="000000"/>
              </a:solidFill>
              <a:effectLst/>
              <a:uFillTx/>
              <a:latin typeface="Arial"/>
            </a:endParaRPr>
          </a:p>
        </p:txBody>
      </p:sp>
    </p:spTree>
  </p:cSld>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sp>
        <p:nvSpPr>
          <p:cNvPr id="205"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ffffff"/>
                </a:solidFill>
                <a:effectLst/>
                <a:uFillTx/>
                <a:latin typeface="DejaVu Sans"/>
                <a:ea typeface="DejaVu Sans"/>
              </a:rPr>
              <a:t>Seguridad desde el servidor</a:t>
            </a:r>
            <a:endParaRPr b="0" lang="en-US" sz="3450" strike="noStrike" u="none">
              <a:solidFill>
                <a:srgbClr val="ffffff"/>
              </a:solidFill>
              <a:effectLst/>
              <a:uFillTx/>
              <a:latin typeface="Arial"/>
            </a:endParaRPr>
          </a:p>
        </p:txBody>
      </p:sp>
      <p:sp>
        <p:nvSpPr>
          <p:cNvPr id="206"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HIDRO-MEJORA   /   Proyecto universitario</a:t>
            </a:r>
            <a:endParaRPr b="0" lang="en-US" sz="1050" strike="noStrike" u="none">
              <a:solidFill>
                <a:srgbClr val="ffffff"/>
              </a:solidFill>
              <a:effectLst/>
              <a:uFillTx/>
              <a:latin typeface="Arial"/>
            </a:endParaRPr>
          </a:p>
        </p:txBody>
      </p:sp>
      <p:sp>
        <p:nvSpPr>
          <p:cNvPr id="207"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a9dbe5"/>
                </a:solidFill>
                <a:effectLst/>
                <a:uFillTx/>
                <a:latin typeface="DejaVu Sans"/>
                <a:ea typeface="DejaVu Sans"/>
              </a:rPr>
              <a:t>12</a:t>
            </a:r>
            <a:endParaRPr b="0" lang="en-US" sz="1280" strike="noStrike" u="none">
              <a:solidFill>
                <a:srgbClr val="ffffff"/>
              </a:solidFill>
              <a:effectLst/>
              <a:uFillTx/>
              <a:latin typeface="Arial"/>
            </a:endParaRPr>
          </a:p>
        </p:txBody>
      </p:sp>
      <p:sp>
        <p:nvSpPr>
          <p:cNvPr id="208" name="text-3"/>
          <p:cNvSpPr/>
          <p:nvPr/>
        </p:nvSpPr>
        <p:spPr>
          <a:xfrm>
            <a:off x="609480" y="1933560"/>
            <a:ext cx="70452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620" strike="noStrike" u="none">
                <a:solidFill>
                  <a:srgbClr val="a9dbe5"/>
                </a:solidFill>
                <a:effectLst/>
                <a:uFillTx/>
                <a:latin typeface="DejaVu Sans"/>
                <a:ea typeface="DejaVu Sans"/>
              </a:rPr>
              <a:t>01</a:t>
            </a:r>
            <a:endParaRPr b="0" lang="en-US" sz="2620" strike="noStrike" u="none">
              <a:solidFill>
                <a:srgbClr val="ffffff"/>
              </a:solidFill>
              <a:effectLst/>
              <a:uFillTx/>
              <a:latin typeface="Arial"/>
            </a:endParaRPr>
          </a:p>
        </p:txBody>
      </p:sp>
      <p:sp>
        <p:nvSpPr>
          <p:cNvPr id="209" name="text-4"/>
          <p:cNvSpPr/>
          <p:nvPr/>
        </p:nvSpPr>
        <p:spPr>
          <a:xfrm>
            <a:off x="1562040" y="1933560"/>
            <a:ext cx="266652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Identidad</a:t>
            </a:r>
            <a:endParaRPr b="0" lang="en-US" sz="2170" strike="noStrike" u="none">
              <a:solidFill>
                <a:srgbClr val="ffffff"/>
              </a:solidFill>
              <a:effectLst/>
              <a:uFillTx/>
              <a:latin typeface="Arial"/>
            </a:endParaRPr>
          </a:p>
        </p:txBody>
      </p:sp>
      <p:sp>
        <p:nvSpPr>
          <p:cNvPr id="210" name="text-5"/>
          <p:cNvSpPr/>
          <p:nvPr/>
        </p:nvSpPr>
        <p:spPr>
          <a:xfrm>
            <a:off x="4591080" y="1952640"/>
            <a:ext cx="690516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JWT firmado y verificación de cuenta activa</a:t>
            </a:r>
            <a:endParaRPr b="0" lang="en-US" sz="2020" strike="noStrike" u="none">
              <a:solidFill>
                <a:srgbClr val="ffffff"/>
              </a:solidFill>
              <a:effectLst/>
              <a:uFillTx/>
              <a:latin typeface="Arial"/>
            </a:endParaRPr>
          </a:p>
        </p:txBody>
      </p:sp>
      <p:sp>
        <p:nvSpPr>
          <p:cNvPr id="211" name="text-6"/>
          <p:cNvSpPr/>
          <p:nvPr/>
        </p:nvSpPr>
        <p:spPr>
          <a:xfrm>
            <a:off x="609480" y="2828880"/>
            <a:ext cx="70452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620" strike="noStrike" u="none">
                <a:solidFill>
                  <a:srgbClr val="a9dbe5"/>
                </a:solidFill>
                <a:effectLst/>
                <a:uFillTx/>
                <a:latin typeface="DejaVu Sans"/>
                <a:ea typeface="DejaVu Sans"/>
              </a:rPr>
              <a:t>02</a:t>
            </a:r>
            <a:endParaRPr b="0" lang="en-US" sz="2620" strike="noStrike" u="none">
              <a:solidFill>
                <a:srgbClr val="ffffff"/>
              </a:solidFill>
              <a:effectLst/>
              <a:uFillTx/>
              <a:latin typeface="Arial"/>
            </a:endParaRPr>
          </a:p>
        </p:txBody>
      </p:sp>
      <p:sp>
        <p:nvSpPr>
          <p:cNvPr id="212" name="text-7"/>
          <p:cNvSpPr/>
          <p:nvPr/>
        </p:nvSpPr>
        <p:spPr>
          <a:xfrm>
            <a:off x="1562040" y="2828880"/>
            <a:ext cx="266652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Credenciales</a:t>
            </a:r>
            <a:endParaRPr b="0" lang="en-US" sz="2170" strike="noStrike" u="none">
              <a:solidFill>
                <a:srgbClr val="ffffff"/>
              </a:solidFill>
              <a:effectLst/>
              <a:uFillTx/>
              <a:latin typeface="Arial"/>
            </a:endParaRPr>
          </a:p>
        </p:txBody>
      </p:sp>
      <p:sp>
        <p:nvSpPr>
          <p:cNvPr id="213" name="text-8"/>
          <p:cNvSpPr/>
          <p:nvPr/>
        </p:nvSpPr>
        <p:spPr>
          <a:xfrm>
            <a:off x="4591080" y="2847960"/>
            <a:ext cx="690516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scrypt con salt aleatorio</a:t>
            </a:r>
            <a:endParaRPr b="0" lang="en-US" sz="2020" strike="noStrike" u="none">
              <a:solidFill>
                <a:srgbClr val="ffffff"/>
              </a:solidFill>
              <a:effectLst/>
              <a:uFillTx/>
              <a:latin typeface="Arial"/>
            </a:endParaRPr>
          </a:p>
        </p:txBody>
      </p:sp>
      <p:sp>
        <p:nvSpPr>
          <p:cNvPr id="214" name="text-9"/>
          <p:cNvSpPr/>
          <p:nvPr/>
        </p:nvSpPr>
        <p:spPr>
          <a:xfrm>
            <a:off x="609480" y="3724200"/>
            <a:ext cx="70452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620" strike="noStrike" u="none">
                <a:solidFill>
                  <a:srgbClr val="a9dbe5"/>
                </a:solidFill>
                <a:effectLst/>
                <a:uFillTx/>
                <a:latin typeface="DejaVu Sans"/>
                <a:ea typeface="DejaVu Sans"/>
              </a:rPr>
              <a:t>03</a:t>
            </a:r>
            <a:endParaRPr b="0" lang="en-US" sz="2620" strike="noStrike" u="none">
              <a:solidFill>
                <a:srgbClr val="ffffff"/>
              </a:solidFill>
              <a:effectLst/>
              <a:uFillTx/>
              <a:latin typeface="Arial"/>
            </a:endParaRPr>
          </a:p>
        </p:txBody>
      </p:sp>
      <p:sp>
        <p:nvSpPr>
          <p:cNvPr id="215" name="text-10"/>
          <p:cNvSpPr/>
          <p:nvPr/>
        </p:nvSpPr>
        <p:spPr>
          <a:xfrm>
            <a:off x="1562040" y="3724200"/>
            <a:ext cx="266652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Permisos</a:t>
            </a:r>
            <a:endParaRPr b="0" lang="en-US" sz="2170" strike="noStrike" u="none">
              <a:solidFill>
                <a:srgbClr val="ffffff"/>
              </a:solidFill>
              <a:effectLst/>
              <a:uFillTx/>
              <a:latin typeface="Arial"/>
            </a:endParaRPr>
          </a:p>
        </p:txBody>
      </p:sp>
      <p:sp>
        <p:nvSpPr>
          <p:cNvPr id="216" name="text-11"/>
          <p:cNvSpPr/>
          <p:nvPr/>
        </p:nvSpPr>
        <p:spPr>
          <a:xfrm>
            <a:off x="4591080" y="3743280"/>
            <a:ext cx="690516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Rol vigente y propiedad del suministro</a:t>
            </a:r>
            <a:endParaRPr b="0" lang="en-US" sz="2020" strike="noStrike" u="none">
              <a:solidFill>
                <a:srgbClr val="ffffff"/>
              </a:solidFill>
              <a:effectLst/>
              <a:uFillTx/>
              <a:latin typeface="Arial"/>
            </a:endParaRPr>
          </a:p>
        </p:txBody>
      </p:sp>
      <p:sp>
        <p:nvSpPr>
          <p:cNvPr id="217" name="text-12"/>
          <p:cNvSpPr/>
          <p:nvPr/>
        </p:nvSpPr>
        <p:spPr>
          <a:xfrm>
            <a:off x="609480" y="4619520"/>
            <a:ext cx="70452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620" strike="noStrike" u="none">
                <a:solidFill>
                  <a:srgbClr val="a9dbe5"/>
                </a:solidFill>
                <a:effectLst/>
                <a:uFillTx/>
                <a:latin typeface="DejaVu Sans"/>
                <a:ea typeface="DejaVu Sans"/>
              </a:rPr>
              <a:t>04</a:t>
            </a:r>
            <a:endParaRPr b="0" lang="en-US" sz="2620" strike="noStrike" u="none">
              <a:solidFill>
                <a:srgbClr val="ffffff"/>
              </a:solidFill>
              <a:effectLst/>
              <a:uFillTx/>
              <a:latin typeface="Arial"/>
            </a:endParaRPr>
          </a:p>
        </p:txBody>
      </p:sp>
      <p:sp>
        <p:nvSpPr>
          <p:cNvPr id="218" name="text-13"/>
          <p:cNvSpPr/>
          <p:nvPr/>
        </p:nvSpPr>
        <p:spPr>
          <a:xfrm>
            <a:off x="1562040" y="4619520"/>
            <a:ext cx="266652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Datos</a:t>
            </a:r>
            <a:endParaRPr b="0" lang="en-US" sz="2170" strike="noStrike" u="none">
              <a:solidFill>
                <a:srgbClr val="ffffff"/>
              </a:solidFill>
              <a:effectLst/>
              <a:uFillTx/>
              <a:latin typeface="Arial"/>
            </a:endParaRPr>
          </a:p>
        </p:txBody>
      </p:sp>
      <p:sp>
        <p:nvSpPr>
          <p:cNvPr id="219" name="text-14"/>
          <p:cNvSpPr/>
          <p:nvPr/>
        </p:nvSpPr>
        <p:spPr>
          <a:xfrm>
            <a:off x="4591080" y="4638600"/>
            <a:ext cx="6905160" cy="590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ffffff"/>
                </a:solidFill>
                <a:effectLst/>
                <a:uFillTx/>
                <a:latin typeface="DejaVu Sans"/>
                <a:ea typeface="DejaVu Sans"/>
              </a:rPr>
              <a:t>SQL parametrizado y transporte TLS</a:t>
            </a:r>
            <a:endParaRPr b="0" lang="en-US" sz="2020" strike="noStrike" u="none">
              <a:solidFill>
                <a:srgbClr val="ffffff"/>
              </a:solidFill>
              <a:effectLst/>
              <a:uFillTx/>
              <a:latin typeface="Arial"/>
            </a:endParaRPr>
          </a:p>
        </p:txBody>
      </p:sp>
      <p:sp>
        <p:nvSpPr>
          <p:cNvPr id="220" name="text-15"/>
          <p:cNvSpPr/>
          <p:nvPr/>
        </p:nvSpPr>
        <p:spPr>
          <a:xfrm>
            <a:off x="609480" y="5896080"/>
            <a:ext cx="10953360" cy="4093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a9dbe5"/>
                </a:solidFill>
                <a:effectLst/>
                <a:uFillTx/>
                <a:latin typeface="DejaVu Sans"/>
                <a:ea typeface="DejaVu Sans"/>
              </a:rPr>
              <a:t>Límites actuales: sin revocación central de JWT ni coordinación entre instancias.</a:t>
            </a:r>
            <a:endParaRPr b="0" lang="en-US" sz="1430" strike="noStrike" u="none">
              <a:solidFill>
                <a:srgbClr val="ffffff"/>
              </a:solidFill>
              <a:effectLst/>
              <a:uFillTx/>
              <a:latin typeface="Arial"/>
            </a:endParaRPr>
          </a:p>
        </p:txBody>
      </p:sp>
    </p:spTree>
  </p:cSld>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Evidencia con alcance definido</a:t>
            </a:r>
            <a:endParaRPr b="0" lang="en-US" sz="3450" strike="noStrike" u="none">
              <a:solidFill>
                <a:srgbClr val="000000"/>
              </a:solidFill>
              <a:effectLst/>
              <a:uFillTx/>
              <a:latin typeface="Arial"/>
            </a:endParaRPr>
          </a:p>
        </p:txBody>
      </p:sp>
      <p:sp>
        <p:nvSpPr>
          <p:cNvPr id="222"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223"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13</a:t>
            </a:r>
            <a:endParaRPr b="0" lang="en-US" sz="1280" strike="noStrike" u="none">
              <a:solidFill>
                <a:srgbClr val="000000"/>
              </a:solidFill>
              <a:effectLst/>
              <a:uFillTx/>
              <a:latin typeface="Arial"/>
            </a:endParaRPr>
          </a:p>
        </p:txBody>
      </p:sp>
      <p:sp>
        <p:nvSpPr>
          <p:cNvPr id="224" name="text-3"/>
          <p:cNvSpPr/>
          <p:nvPr/>
        </p:nvSpPr>
        <p:spPr>
          <a:xfrm>
            <a:off x="609480" y="1752480"/>
            <a:ext cx="3142800" cy="1809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9900" strike="noStrike" u="none">
                <a:solidFill>
                  <a:srgbClr val="075d91"/>
                </a:solidFill>
                <a:effectLst/>
                <a:uFillTx/>
                <a:latin typeface="DejaVu Sans"/>
                <a:ea typeface="DejaVu Sans"/>
              </a:rPr>
              <a:t>12</a:t>
            </a:r>
            <a:endParaRPr b="0" lang="en-US" sz="9900" strike="noStrike" u="none">
              <a:solidFill>
                <a:srgbClr val="000000"/>
              </a:solidFill>
              <a:effectLst/>
              <a:uFillTx/>
              <a:latin typeface="Arial"/>
            </a:endParaRPr>
          </a:p>
        </p:txBody>
      </p:sp>
      <p:sp>
        <p:nvSpPr>
          <p:cNvPr id="225" name="text-4"/>
          <p:cNvSpPr/>
          <p:nvPr/>
        </p:nvSpPr>
        <p:spPr>
          <a:xfrm>
            <a:off x="609480" y="3591000"/>
            <a:ext cx="3285720" cy="942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470" strike="noStrike" u="none">
                <a:solidFill>
                  <a:srgbClr val="103e60"/>
                </a:solidFill>
                <a:effectLst/>
                <a:uFillTx/>
                <a:latin typeface="DejaVu Sans"/>
                <a:ea typeface="DejaVu Sans"/>
              </a:rPr>
              <a:t>pruebas locales</a:t>
            </a:r>
            <a:endParaRPr b="0" lang="en-US" sz="2470" strike="noStrike" u="none">
              <a:solidFill>
                <a:srgbClr val="000000"/>
              </a:solidFill>
              <a:effectLst/>
              <a:uFillTx/>
              <a:latin typeface="Arial"/>
            </a:endParaRPr>
          </a:p>
          <a:p>
            <a:pPr>
              <a:lnSpc>
                <a:spcPct val="100000"/>
              </a:lnSpc>
            </a:pPr>
            <a:r>
              <a:rPr b="1" lang="en-US" sz="2470" strike="noStrike" u="none">
                <a:solidFill>
                  <a:srgbClr val="103e60"/>
                </a:solidFill>
                <a:effectLst/>
                <a:uFillTx/>
                <a:latin typeface="DejaVu Sans"/>
                <a:ea typeface="DejaVu Sans"/>
              </a:rPr>
              <a:t>aprobadas</a:t>
            </a:r>
            <a:endParaRPr b="0" lang="en-US" sz="2470" strike="noStrike" u="none">
              <a:solidFill>
                <a:srgbClr val="000000"/>
              </a:solidFill>
              <a:effectLst/>
              <a:uFillTx/>
              <a:latin typeface="Arial"/>
            </a:endParaRPr>
          </a:p>
        </p:txBody>
      </p:sp>
      <p:sp>
        <p:nvSpPr>
          <p:cNvPr id="226" name="text-5"/>
          <p:cNvSpPr/>
          <p:nvPr/>
        </p:nvSpPr>
        <p:spPr>
          <a:xfrm>
            <a:off x="609480" y="4838760"/>
            <a:ext cx="3352320" cy="761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500" strike="noStrike" u="none">
                <a:solidFill>
                  <a:srgbClr val="526879"/>
                </a:solidFill>
                <a:effectLst/>
                <a:uFillTx/>
                <a:latin typeface="DejaVu Sans"/>
                <a:ea typeface="DejaVu Sans"/>
              </a:rPr>
              <a:t>Configuración y firma</a:t>
            </a:r>
            <a:endParaRPr b="0" lang="en-US" sz="1500" strike="noStrike" u="none">
              <a:solidFill>
                <a:srgbClr val="000000"/>
              </a:solidFill>
              <a:effectLst/>
              <a:uFillTx/>
              <a:latin typeface="Arial"/>
            </a:endParaRPr>
          </a:p>
          <a:p>
            <a:pPr>
              <a:lnSpc>
                <a:spcPct val="100000"/>
              </a:lnSpc>
            </a:pPr>
            <a:r>
              <a:rPr b="0" lang="en-US" sz="1500" strike="noStrike" u="none">
                <a:solidFill>
                  <a:srgbClr val="526879"/>
                </a:solidFill>
                <a:effectLst/>
                <a:uFillTx/>
                <a:latin typeface="DejaVu Sans"/>
                <a:ea typeface="DejaVu Sans"/>
              </a:rPr>
              <a:t>Alcance de pruebas documentado</a:t>
            </a:r>
            <a:endParaRPr b="0" lang="en-US" sz="1500" strike="noStrike" u="none">
              <a:solidFill>
                <a:srgbClr val="000000"/>
              </a:solidFill>
              <a:effectLst/>
              <a:uFillTx/>
              <a:latin typeface="Arial"/>
            </a:endParaRPr>
          </a:p>
        </p:txBody>
      </p:sp>
      <p:sp>
        <p:nvSpPr>
          <p:cNvPr id="227" name="text-6"/>
          <p:cNvSpPr/>
          <p:nvPr/>
        </p:nvSpPr>
        <p:spPr>
          <a:xfrm>
            <a:off x="4610160" y="1743120"/>
            <a:ext cx="697212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50" strike="noStrike" u="none">
                <a:solidFill>
                  <a:srgbClr val="087e9e"/>
                </a:solidFill>
                <a:effectLst/>
                <a:uFillTx/>
                <a:latin typeface="DejaVu Sans"/>
                <a:ea typeface="DejaVu Sans"/>
              </a:rPr>
              <a:t>EJECUTADAS PARA ESTA PREPARACIÓN</a:t>
            </a:r>
            <a:endParaRPr b="0" lang="en-US" sz="1350" strike="noStrike" u="none">
              <a:solidFill>
                <a:srgbClr val="000000"/>
              </a:solidFill>
              <a:effectLst/>
              <a:uFillTx/>
              <a:latin typeface="Arial"/>
            </a:endParaRPr>
          </a:p>
        </p:txBody>
      </p:sp>
      <p:sp>
        <p:nvSpPr>
          <p:cNvPr id="228" name="text-7"/>
          <p:cNvSpPr/>
          <p:nvPr/>
        </p:nvSpPr>
        <p:spPr>
          <a:xfrm>
            <a:off x="4610160" y="2219400"/>
            <a:ext cx="6972120" cy="9997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320" strike="noStrike" u="none">
                <a:solidFill>
                  <a:srgbClr val="103e60"/>
                </a:solidFill>
                <a:effectLst/>
                <a:uFillTx/>
                <a:latin typeface="DejaVu Sans"/>
                <a:ea typeface="DejaVu Sans"/>
              </a:rPr>
              <a:t>5 de empaquetado público</a:t>
            </a:r>
            <a:endParaRPr b="0" lang="en-US" sz="2320" strike="noStrike" u="none">
              <a:solidFill>
                <a:srgbClr val="000000"/>
              </a:solidFill>
              <a:effectLst/>
              <a:uFillTx/>
              <a:latin typeface="Arial"/>
            </a:endParaRPr>
          </a:p>
          <a:p>
            <a:pPr>
              <a:lnSpc>
                <a:spcPct val="100000"/>
              </a:lnSpc>
            </a:pPr>
            <a:r>
              <a:rPr b="1" lang="en-US" sz="2320" strike="noStrike" u="none">
                <a:solidFill>
                  <a:srgbClr val="103e60"/>
                </a:solidFill>
                <a:effectLst/>
                <a:uFillTx/>
                <a:latin typeface="DejaVu Sans"/>
                <a:ea typeface="DejaVu Sans"/>
              </a:rPr>
              <a:t>7 de controles de firma</a:t>
            </a:r>
            <a:endParaRPr b="0" lang="en-US" sz="2320" strike="noStrike" u="none">
              <a:solidFill>
                <a:srgbClr val="000000"/>
              </a:solidFill>
              <a:effectLst/>
              <a:uFillTx/>
              <a:latin typeface="Arial"/>
            </a:endParaRPr>
          </a:p>
        </p:txBody>
      </p:sp>
      <p:sp>
        <p:nvSpPr>
          <p:cNvPr id="229" name=""/>
          <p:cNvSpPr/>
          <p:nvPr/>
        </p:nvSpPr>
        <p:spPr>
          <a:xfrm>
            <a:off x="4610160" y="3591000"/>
            <a:ext cx="6972120" cy="9000"/>
          </a:xfrm>
          <a:prstGeom prst="rect">
            <a:avLst/>
          </a:prstGeom>
          <a:solidFill>
            <a:srgbClr val="d9e3eb"/>
          </a:solidFill>
          <a:ln w="0">
            <a:noFill/>
          </a:ln>
        </p:spPr>
        <p:style>
          <a:lnRef idx="0"/>
          <a:fillRef idx="0"/>
          <a:effectRef idx="0"/>
          <a:fontRef idx="minor"/>
        </p:style>
        <p:txBody>
          <a:bodyPr lIns="90000" rIns="90000" tIns="-35640" bIns="-35640" anchor="t">
            <a:noAutofit/>
          </a:bodyPr>
          <a:p>
            <a:endParaRPr b="0" lang="es-ES" sz="1800" strike="noStrike" u="none">
              <a:solidFill>
                <a:srgbClr val="000000"/>
              </a:solidFill>
              <a:effectLst/>
              <a:uFillTx/>
              <a:latin typeface="Arial"/>
            </a:endParaRPr>
          </a:p>
        </p:txBody>
      </p:sp>
      <p:sp>
        <p:nvSpPr>
          <p:cNvPr id="230" name="text-9"/>
          <p:cNvSpPr/>
          <p:nvPr/>
        </p:nvSpPr>
        <p:spPr>
          <a:xfrm>
            <a:off x="4610160" y="3943440"/>
            <a:ext cx="6972120" cy="2854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50" strike="noStrike" u="none">
                <a:solidFill>
                  <a:srgbClr val="087e9e"/>
                </a:solidFill>
                <a:effectLst/>
                <a:uFillTx/>
                <a:latin typeface="DejaVu Sans"/>
                <a:ea typeface="DejaVu Sans"/>
              </a:rPr>
              <a:t>EVIDENCIA DOCUMENTADA DEL PROYECTO</a:t>
            </a:r>
            <a:endParaRPr b="0" lang="en-US" sz="1350" strike="noStrike" u="none">
              <a:solidFill>
                <a:srgbClr val="000000"/>
              </a:solidFill>
              <a:effectLst/>
              <a:uFillTx/>
              <a:latin typeface="Arial"/>
            </a:endParaRPr>
          </a:p>
        </p:txBody>
      </p:sp>
      <p:sp>
        <p:nvSpPr>
          <p:cNvPr id="231" name="text-10"/>
          <p:cNvSpPr/>
          <p:nvPr/>
        </p:nvSpPr>
        <p:spPr>
          <a:xfrm>
            <a:off x="4610160" y="4419720"/>
            <a:ext cx="6972120" cy="904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trike="noStrike" u="none">
                <a:solidFill>
                  <a:srgbClr val="243b4b"/>
                </a:solidFill>
                <a:effectLst/>
                <a:uFillTx/>
                <a:latin typeface="DejaVu Sans"/>
                <a:ea typeface="DejaVu Sans"/>
              </a:rPr>
              <a:t>K8s local: acceso, roles y atención</a:t>
            </a:r>
            <a:endParaRPr b="0" lang="en-US" sz="1870" strike="noStrike" u="none">
              <a:solidFill>
                <a:srgbClr val="000000"/>
              </a:solidFill>
              <a:effectLst/>
              <a:uFillTx/>
              <a:latin typeface="Arial"/>
            </a:endParaRPr>
          </a:p>
          <a:p>
            <a:pPr>
              <a:lnSpc>
                <a:spcPct val="100000"/>
              </a:lnSpc>
            </a:pPr>
            <a:r>
              <a:rPr b="0" lang="en-US" sz="1870" strike="noStrike" u="none">
                <a:solidFill>
                  <a:srgbClr val="243b4b"/>
                </a:solidFill>
                <a:effectLst/>
                <a:uFillTx/>
                <a:latin typeface="DejaVu Sans"/>
                <a:ea typeface="DejaVu Sans"/>
              </a:rPr>
              <a:t>Navegación y Socket.IO verificados</a:t>
            </a:r>
            <a:endParaRPr b="0" lang="en-US" sz="1870" strike="noStrike" u="none">
              <a:solidFill>
                <a:srgbClr val="000000"/>
              </a:solidFill>
              <a:effectLst/>
              <a:uFillTx/>
              <a:latin typeface="Arial"/>
            </a:endParaRPr>
          </a:p>
        </p:txBody>
      </p:sp>
      <p:sp>
        <p:nvSpPr>
          <p:cNvPr id="232" name="text-11"/>
          <p:cNvSpPr/>
          <p:nvPr/>
        </p:nvSpPr>
        <p:spPr>
          <a:xfrm>
            <a:off x="4610160" y="5524560"/>
            <a:ext cx="6953040" cy="6854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50" strike="noStrike" u="none">
                <a:solidFill>
                  <a:srgbClr val="526879"/>
                </a:solidFill>
                <a:effectLst/>
                <a:uFillTx/>
                <a:latin typeface="DejaVu Sans"/>
                <a:ea typeface="DejaVu Sans"/>
              </a:rPr>
              <a:t>PostgreSQL: datos conservados al recrear su Pod; API recuperada sin reinicio.</a:t>
            </a:r>
            <a:endParaRPr b="0" lang="en-US" sz="1350" strike="noStrike" u="none">
              <a:solidFill>
                <a:srgbClr val="000000"/>
              </a:solidFill>
              <a:effectLst/>
              <a:uFillTx/>
              <a:latin typeface="Arial"/>
            </a:endParaRPr>
          </a:p>
          <a:p>
            <a:pPr>
              <a:lnSpc>
                <a:spcPct val="100000"/>
              </a:lnSpc>
            </a:pPr>
            <a:r>
              <a:rPr b="0" lang="en-US" sz="1350" strike="noStrike" u="none">
                <a:solidFill>
                  <a:srgbClr val="526879"/>
                </a:solidFill>
                <a:effectLst/>
                <a:uFillTx/>
                <a:latin typeface="DejaVu Sans"/>
                <a:ea typeface="DejaVu Sans"/>
              </a:rPr>
              <a:t>Validación local; sin pruebas de carga ni alta disponibilidad.</a:t>
            </a:r>
            <a:endParaRPr b="0" lang="en-US" sz="1350" strike="noStrike" u="none">
              <a:solidFill>
                <a:srgbClr val="000000"/>
              </a:solidFill>
              <a:effectLst/>
              <a:uFillTx/>
              <a:latin typeface="Arial"/>
            </a:endParaRPr>
          </a:p>
        </p:txBody>
      </p:sp>
    </p:spTree>
  </p:cSld>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sp>
        <p:nvSpPr>
          <p:cNvPr id="233"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ffffff"/>
                </a:solidFill>
                <a:effectLst/>
                <a:uFillTx/>
                <a:latin typeface="DejaVu Sans"/>
                <a:ea typeface="DejaVu Sans"/>
              </a:rPr>
              <a:t>Demostración en dos minutos</a:t>
            </a:r>
            <a:endParaRPr b="0" lang="en-US" sz="3450" strike="noStrike" u="none">
              <a:solidFill>
                <a:srgbClr val="ffffff"/>
              </a:solidFill>
              <a:effectLst/>
              <a:uFillTx/>
              <a:latin typeface="Arial"/>
            </a:endParaRPr>
          </a:p>
        </p:txBody>
      </p:sp>
      <p:sp>
        <p:nvSpPr>
          <p:cNvPr id="234"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HIDRO-MEJORA   /   Proyecto universitario</a:t>
            </a:r>
            <a:endParaRPr b="0" lang="en-US" sz="1050" strike="noStrike" u="none">
              <a:solidFill>
                <a:srgbClr val="ffffff"/>
              </a:solidFill>
              <a:effectLst/>
              <a:uFillTx/>
              <a:latin typeface="Arial"/>
            </a:endParaRPr>
          </a:p>
        </p:txBody>
      </p:sp>
      <p:sp>
        <p:nvSpPr>
          <p:cNvPr id="235"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a9dbe5"/>
                </a:solidFill>
                <a:effectLst/>
                <a:uFillTx/>
                <a:latin typeface="DejaVu Sans"/>
                <a:ea typeface="DejaVu Sans"/>
              </a:rPr>
              <a:t>14</a:t>
            </a:r>
            <a:endParaRPr b="0" lang="en-US" sz="1280" strike="noStrike" u="none">
              <a:solidFill>
                <a:srgbClr val="ffffff"/>
              </a:solidFill>
              <a:effectLst/>
              <a:uFillTx/>
              <a:latin typeface="Arial"/>
            </a:endParaRPr>
          </a:p>
        </p:txBody>
      </p:sp>
      <p:sp>
        <p:nvSpPr>
          <p:cNvPr id="236" name="text-3"/>
          <p:cNvSpPr/>
          <p:nvPr/>
        </p:nvSpPr>
        <p:spPr>
          <a:xfrm>
            <a:off x="609480" y="1714680"/>
            <a:ext cx="4190760" cy="13140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7869" strike="noStrike" u="none">
                <a:solidFill>
                  <a:srgbClr val="ffffff"/>
                </a:solidFill>
                <a:effectLst/>
                <a:uFillTx/>
                <a:latin typeface="DejaVu Sans"/>
                <a:ea typeface="DejaVu Sans"/>
              </a:rPr>
              <a:t>02:00</a:t>
            </a:r>
            <a:endParaRPr b="0" lang="en-US" sz="7869" strike="noStrike" u="none">
              <a:solidFill>
                <a:srgbClr val="ffffff"/>
              </a:solidFill>
              <a:effectLst/>
              <a:uFillTx/>
              <a:latin typeface="Arial"/>
            </a:endParaRPr>
          </a:p>
        </p:txBody>
      </p:sp>
      <p:sp>
        <p:nvSpPr>
          <p:cNvPr id="237" name="text-4"/>
          <p:cNvSpPr/>
          <p:nvPr/>
        </p:nvSpPr>
        <p:spPr>
          <a:xfrm>
            <a:off x="609480" y="3352680"/>
            <a:ext cx="4333680" cy="1047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trike="noStrike" u="none">
                <a:solidFill>
                  <a:srgbClr val="a9dbe5"/>
                </a:solidFill>
                <a:effectLst/>
                <a:uFillTx/>
                <a:latin typeface="DejaVu Sans"/>
                <a:ea typeface="DejaVu Sans"/>
              </a:rPr>
              <a:t>Un caso completo</a:t>
            </a:r>
            <a:endParaRPr b="0" lang="en-US" sz="2620" strike="noStrike" u="none">
              <a:solidFill>
                <a:srgbClr val="ffffff"/>
              </a:solidFill>
              <a:effectLst/>
              <a:uFillTx/>
              <a:latin typeface="Arial"/>
            </a:endParaRPr>
          </a:p>
          <a:p>
            <a:pPr>
              <a:lnSpc>
                <a:spcPct val="100000"/>
              </a:lnSpc>
            </a:pPr>
            <a:r>
              <a:rPr b="0" lang="en-US" sz="2620" strike="noStrike" u="none">
                <a:solidFill>
                  <a:srgbClr val="a9dbe5"/>
                </a:solidFill>
                <a:effectLst/>
                <a:uFillTx/>
                <a:latin typeface="DejaVu Sans"/>
                <a:ea typeface="DejaVu Sans"/>
              </a:rPr>
              <a:t>con datos de prueba</a:t>
            </a:r>
            <a:endParaRPr b="0" lang="en-US" sz="2620" strike="noStrike" u="none">
              <a:solidFill>
                <a:srgbClr val="ffffff"/>
              </a:solidFill>
              <a:effectLst/>
              <a:uFillTx/>
              <a:latin typeface="Arial"/>
            </a:endParaRPr>
          </a:p>
        </p:txBody>
      </p:sp>
      <p:sp>
        <p:nvSpPr>
          <p:cNvPr id="238" name="text-5"/>
          <p:cNvSpPr/>
          <p:nvPr/>
        </p:nvSpPr>
        <p:spPr>
          <a:xfrm>
            <a:off x="609480" y="5057640"/>
            <a:ext cx="4419360" cy="761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650" strike="noStrike" u="none">
                <a:solidFill>
                  <a:srgbClr val="a9dbe5"/>
                </a:solidFill>
                <a:effectLst/>
                <a:uFillTx/>
                <a:latin typeface="DejaVu Sans"/>
                <a:ea typeface="DejaVu Sans"/>
              </a:rPr>
              <a:t>Dos sesiones preparadas</a:t>
            </a:r>
            <a:endParaRPr b="0" lang="en-US" sz="1650" strike="noStrike" u="none">
              <a:solidFill>
                <a:srgbClr val="ffffff"/>
              </a:solidFill>
              <a:effectLst/>
              <a:uFillTx/>
              <a:latin typeface="Arial"/>
            </a:endParaRPr>
          </a:p>
          <a:p>
            <a:pPr>
              <a:lnSpc>
                <a:spcPct val="100000"/>
              </a:lnSpc>
            </a:pPr>
            <a:r>
              <a:rPr b="0" lang="en-US" sz="1650" strike="noStrike" u="none">
                <a:solidFill>
                  <a:srgbClr val="a9dbe5"/>
                </a:solidFill>
                <a:effectLst/>
                <a:uFillTx/>
                <a:latin typeface="DejaVu Sans"/>
                <a:ea typeface="DejaVu Sans"/>
              </a:rPr>
              <a:t>Una base de demostración</a:t>
            </a:r>
            <a:endParaRPr b="0" lang="en-US" sz="1650" strike="noStrike" u="none">
              <a:solidFill>
                <a:srgbClr val="ffffff"/>
              </a:solidFill>
              <a:effectLst/>
              <a:uFillTx/>
              <a:latin typeface="Arial"/>
            </a:endParaRPr>
          </a:p>
        </p:txBody>
      </p:sp>
      <p:sp>
        <p:nvSpPr>
          <p:cNvPr id="239" name="text-6"/>
          <p:cNvSpPr/>
          <p:nvPr/>
        </p:nvSpPr>
        <p:spPr>
          <a:xfrm>
            <a:off x="5905440" y="1971720"/>
            <a:ext cx="95220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a9dbe5"/>
                </a:solidFill>
                <a:effectLst/>
                <a:uFillTx/>
                <a:latin typeface="DejaVu Sans"/>
                <a:ea typeface="DejaVu Sans"/>
              </a:rPr>
              <a:t>00:00</a:t>
            </a:r>
            <a:endParaRPr b="0" lang="en-US" sz="1800" strike="noStrike" u="none">
              <a:solidFill>
                <a:srgbClr val="ffffff"/>
              </a:solidFill>
              <a:effectLst/>
              <a:uFillTx/>
              <a:latin typeface="Arial"/>
            </a:endParaRPr>
          </a:p>
        </p:txBody>
      </p:sp>
      <p:sp>
        <p:nvSpPr>
          <p:cNvPr id="240" name="text-7"/>
          <p:cNvSpPr/>
          <p:nvPr/>
        </p:nvSpPr>
        <p:spPr>
          <a:xfrm>
            <a:off x="7210440" y="1943280"/>
            <a:ext cx="4381200" cy="732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Recibo y PDF</a:t>
            </a:r>
            <a:endParaRPr b="0" lang="en-US" sz="2170" strike="noStrike" u="none">
              <a:solidFill>
                <a:srgbClr val="ffffff"/>
              </a:solidFill>
              <a:effectLst/>
              <a:uFillTx/>
              <a:latin typeface="Arial"/>
            </a:endParaRPr>
          </a:p>
        </p:txBody>
      </p:sp>
      <p:sp>
        <p:nvSpPr>
          <p:cNvPr id="241" name="text-8"/>
          <p:cNvSpPr/>
          <p:nvPr/>
        </p:nvSpPr>
        <p:spPr>
          <a:xfrm>
            <a:off x="5905440" y="2943360"/>
            <a:ext cx="95220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a9dbe5"/>
                </a:solidFill>
                <a:effectLst/>
                <a:uFillTx/>
                <a:latin typeface="DejaVu Sans"/>
                <a:ea typeface="DejaVu Sans"/>
              </a:rPr>
              <a:t>00:25</a:t>
            </a:r>
            <a:endParaRPr b="0" lang="en-US" sz="1800" strike="noStrike" u="none">
              <a:solidFill>
                <a:srgbClr val="ffffff"/>
              </a:solidFill>
              <a:effectLst/>
              <a:uFillTx/>
              <a:latin typeface="Arial"/>
            </a:endParaRPr>
          </a:p>
        </p:txBody>
      </p:sp>
      <p:sp>
        <p:nvSpPr>
          <p:cNvPr id="242" name="text-9"/>
          <p:cNvSpPr/>
          <p:nvPr/>
        </p:nvSpPr>
        <p:spPr>
          <a:xfrm>
            <a:off x="7210440" y="2914560"/>
            <a:ext cx="4381200" cy="732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Reporte de incidencia</a:t>
            </a:r>
            <a:endParaRPr b="0" lang="en-US" sz="2170" strike="noStrike" u="none">
              <a:solidFill>
                <a:srgbClr val="ffffff"/>
              </a:solidFill>
              <a:effectLst/>
              <a:uFillTx/>
              <a:latin typeface="Arial"/>
            </a:endParaRPr>
          </a:p>
        </p:txBody>
      </p:sp>
      <p:sp>
        <p:nvSpPr>
          <p:cNvPr id="243" name="text-10"/>
          <p:cNvSpPr/>
          <p:nvPr/>
        </p:nvSpPr>
        <p:spPr>
          <a:xfrm>
            <a:off x="5905440" y="3914640"/>
            <a:ext cx="95220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a9dbe5"/>
                </a:solidFill>
                <a:effectLst/>
                <a:uFillTx/>
                <a:latin typeface="DejaVu Sans"/>
                <a:ea typeface="DejaVu Sans"/>
              </a:rPr>
              <a:t>00:55</a:t>
            </a:r>
            <a:endParaRPr b="0" lang="en-US" sz="1800" strike="noStrike" u="none">
              <a:solidFill>
                <a:srgbClr val="ffffff"/>
              </a:solidFill>
              <a:effectLst/>
              <a:uFillTx/>
              <a:latin typeface="Arial"/>
            </a:endParaRPr>
          </a:p>
        </p:txBody>
      </p:sp>
      <p:sp>
        <p:nvSpPr>
          <p:cNvPr id="244" name="text-11"/>
          <p:cNvSpPr/>
          <p:nvPr/>
        </p:nvSpPr>
        <p:spPr>
          <a:xfrm>
            <a:off x="7210440" y="3886200"/>
            <a:ext cx="4381200" cy="732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Actualización en Admin</a:t>
            </a:r>
            <a:endParaRPr b="0" lang="en-US" sz="2170" strike="noStrike" u="none">
              <a:solidFill>
                <a:srgbClr val="ffffff"/>
              </a:solidFill>
              <a:effectLst/>
              <a:uFillTx/>
              <a:latin typeface="Arial"/>
            </a:endParaRPr>
          </a:p>
        </p:txBody>
      </p:sp>
      <p:sp>
        <p:nvSpPr>
          <p:cNvPr id="245" name="text-12"/>
          <p:cNvSpPr/>
          <p:nvPr/>
        </p:nvSpPr>
        <p:spPr>
          <a:xfrm>
            <a:off x="5905440" y="4886280"/>
            <a:ext cx="95220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a9dbe5"/>
                </a:solidFill>
                <a:effectLst/>
                <a:uFillTx/>
                <a:latin typeface="DejaVu Sans"/>
                <a:ea typeface="DejaVu Sans"/>
              </a:rPr>
              <a:t>01:30</a:t>
            </a:r>
            <a:endParaRPr b="0" lang="en-US" sz="1800" strike="noStrike" u="none">
              <a:solidFill>
                <a:srgbClr val="ffffff"/>
              </a:solidFill>
              <a:effectLst/>
              <a:uFillTx/>
              <a:latin typeface="Arial"/>
            </a:endParaRPr>
          </a:p>
        </p:txBody>
      </p:sp>
      <p:sp>
        <p:nvSpPr>
          <p:cNvPr id="246" name="text-13"/>
          <p:cNvSpPr/>
          <p:nvPr/>
        </p:nvSpPr>
        <p:spPr>
          <a:xfrm>
            <a:off x="7210440" y="4857840"/>
            <a:ext cx="4381200" cy="732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170" strike="noStrike" u="none">
                <a:solidFill>
                  <a:srgbClr val="ffffff"/>
                </a:solidFill>
                <a:effectLst/>
                <a:uFillTx/>
                <a:latin typeface="DejaVu Sans"/>
                <a:ea typeface="DejaVu Sans"/>
              </a:rPr>
              <a:t>Confirmación en el cliente</a:t>
            </a:r>
            <a:endParaRPr b="0" lang="en-US" sz="2170" strike="noStrike" u="none">
              <a:solidFill>
                <a:srgbClr val="ffffff"/>
              </a:solidFill>
              <a:effectLst/>
              <a:uFillTx/>
              <a:latin typeface="Arial"/>
            </a:endParaRPr>
          </a:p>
        </p:txBody>
      </p:sp>
      <p:sp>
        <p:nvSpPr>
          <p:cNvPr id="247" name="text-14"/>
          <p:cNvSpPr/>
          <p:nvPr/>
        </p:nvSpPr>
        <p:spPr>
          <a:xfrm>
            <a:off x="609480" y="5981760"/>
            <a:ext cx="10953360" cy="333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30" strike="noStrike" u="none">
                <a:solidFill>
                  <a:srgbClr val="a9dbe5"/>
                </a:solidFill>
                <a:effectLst/>
                <a:uFillTx/>
                <a:latin typeface="DejaVu Sans"/>
                <a:ea typeface="DejaVu Sans"/>
              </a:rPr>
              <a:t>Respaldo si no hay red: ensayo previamente grabado y fechado</a:t>
            </a:r>
            <a:endParaRPr b="0" lang="en-US" sz="1430" strike="noStrike" u="none">
              <a:solidFill>
                <a:srgbClr val="ffffff"/>
              </a:solidFill>
              <a:effectLst/>
              <a:uFillTx/>
              <a:latin typeface="Arial"/>
            </a:endParaRPr>
          </a:p>
        </p:txBody>
      </p:sp>
    </p:spTree>
  </p:cSld>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8" name="text-0"/>
          <p:cNvSpPr/>
          <p:nvPr/>
        </p:nvSpPr>
        <p:spPr>
          <a:xfrm>
            <a:off x="609480" y="523800"/>
            <a:ext cx="10858320" cy="10951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450" strike="noStrike" u="none">
                <a:solidFill>
                  <a:srgbClr val="103e60"/>
                </a:solidFill>
                <a:effectLst/>
                <a:uFillTx/>
                <a:latin typeface="DejaVu Sans"/>
                <a:ea typeface="DejaVu Sans"/>
              </a:rPr>
              <a:t>Una base funcional que sigue creciendo</a:t>
            </a:r>
            <a:endParaRPr b="0" lang="en-US" sz="3450" strike="noStrike" u="none">
              <a:solidFill>
                <a:srgbClr val="000000"/>
              </a:solidFill>
              <a:effectLst/>
              <a:uFillTx/>
              <a:latin typeface="Arial"/>
            </a:endParaRPr>
          </a:p>
        </p:txBody>
      </p:sp>
      <p:sp>
        <p:nvSpPr>
          <p:cNvPr id="249" name="text-1"/>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526879"/>
                </a:solidFill>
                <a:effectLst/>
                <a:uFillTx/>
                <a:latin typeface="DejaVu Sans"/>
                <a:ea typeface="DejaVu Sans"/>
              </a:rPr>
              <a:t>HIDRO-MEJORA   /   Proyecto universitario</a:t>
            </a:r>
            <a:endParaRPr b="0" lang="en-US" sz="1050" strike="noStrike" u="none">
              <a:solidFill>
                <a:srgbClr val="000000"/>
              </a:solidFill>
              <a:effectLst/>
              <a:uFillTx/>
              <a:latin typeface="Arial"/>
            </a:endParaRPr>
          </a:p>
        </p:txBody>
      </p:sp>
      <p:sp>
        <p:nvSpPr>
          <p:cNvPr id="250" name="text-2"/>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075d91"/>
                </a:solidFill>
                <a:effectLst/>
                <a:uFillTx/>
                <a:latin typeface="DejaVu Sans"/>
                <a:ea typeface="DejaVu Sans"/>
              </a:rPr>
              <a:t>15</a:t>
            </a:r>
            <a:endParaRPr b="0" lang="en-US" sz="1280" strike="noStrike" u="none">
              <a:solidFill>
                <a:srgbClr val="000000"/>
              </a:solidFill>
              <a:effectLst/>
              <a:uFillTx/>
              <a:latin typeface="Arial"/>
            </a:endParaRPr>
          </a:p>
        </p:txBody>
      </p:sp>
      <p:sp>
        <p:nvSpPr>
          <p:cNvPr id="251" name="text-3"/>
          <p:cNvSpPr/>
          <p:nvPr/>
        </p:nvSpPr>
        <p:spPr>
          <a:xfrm>
            <a:off x="609480" y="1733400"/>
            <a:ext cx="323820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DISPONIBLE</a:t>
            </a:r>
            <a:endParaRPr b="0" lang="en-US" sz="1430" strike="noStrike" u="none">
              <a:solidFill>
                <a:srgbClr val="000000"/>
              </a:solidFill>
              <a:effectLst/>
              <a:uFillTx/>
              <a:latin typeface="Arial"/>
            </a:endParaRPr>
          </a:p>
        </p:txBody>
      </p:sp>
      <p:sp>
        <p:nvSpPr>
          <p:cNvPr id="252" name="text-4"/>
          <p:cNvSpPr/>
          <p:nvPr/>
        </p:nvSpPr>
        <p:spPr>
          <a:xfrm>
            <a:off x="609480" y="2238480"/>
            <a:ext cx="323820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750" strike="noStrike" u="none">
                <a:solidFill>
                  <a:srgbClr val="103e60"/>
                </a:solidFill>
                <a:effectLst/>
                <a:uFillTx/>
                <a:latin typeface="DejaVu Sans"/>
                <a:ea typeface="DejaVu Sans"/>
              </a:rPr>
              <a:t>Hidro Mejora</a:t>
            </a:r>
            <a:endParaRPr b="0" lang="en-US" sz="3750" strike="noStrike" u="none">
              <a:solidFill>
                <a:srgbClr val="000000"/>
              </a:solidFill>
              <a:effectLst/>
              <a:uFillTx/>
              <a:latin typeface="Arial"/>
            </a:endParaRPr>
          </a:p>
        </p:txBody>
      </p:sp>
      <p:sp>
        <p:nvSpPr>
          <p:cNvPr id="253" name="text-5"/>
          <p:cNvSpPr/>
          <p:nvPr/>
        </p:nvSpPr>
        <p:spPr>
          <a:xfrm>
            <a:off x="609480" y="3276720"/>
            <a:ext cx="3238200" cy="1428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243b4b"/>
                </a:solidFill>
                <a:effectLst/>
                <a:uFillTx/>
                <a:latin typeface="DejaVu Sans"/>
                <a:ea typeface="DejaVu Sans"/>
              </a:rPr>
              <a:t>Android firmado</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Panel administrativo</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API y datos compartidos</a:t>
            </a:r>
            <a:endParaRPr b="0" lang="en-US" sz="2020" strike="noStrike" u="none">
              <a:solidFill>
                <a:srgbClr val="000000"/>
              </a:solidFill>
              <a:effectLst/>
              <a:uFillTx/>
              <a:latin typeface="Arial"/>
            </a:endParaRPr>
          </a:p>
        </p:txBody>
      </p:sp>
      <p:sp>
        <p:nvSpPr>
          <p:cNvPr id="254" name="text-6"/>
          <p:cNvSpPr/>
          <p:nvPr/>
        </p:nvSpPr>
        <p:spPr>
          <a:xfrm>
            <a:off x="4552920" y="1733400"/>
            <a:ext cx="323820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ENTORNO LOCAL</a:t>
            </a:r>
            <a:endParaRPr b="0" lang="en-US" sz="1430" strike="noStrike" u="none">
              <a:solidFill>
                <a:srgbClr val="000000"/>
              </a:solidFill>
              <a:effectLst/>
              <a:uFillTx/>
              <a:latin typeface="Arial"/>
            </a:endParaRPr>
          </a:p>
        </p:txBody>
      </p:sp>
      <p:sp>
        <p:nvSpPr>
          <p:cNvPr id="255" name="text-7"/>
          <p:cNvSpPr/>
          <p:nvPr/>
        </p:nvSpPr>
        <p:spPr>
          <a:xfrm>
            <a:off x="4552920" y="2238480"/>
            <a:ext cx="323820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750" strike="noStrike" u="none">
                <a:solidFill>
                  <a:srgbClr val="103e60"/>
                </a:solidFill>
                <a:effectLst/>
                <a:uFillTx/>
                <a:latin typeface="DejaVu Sans"/>
                <a:ea typeface="DejaVu Sans"/>
              </a:rPr>
              <a:t>K8s / Kind</a:t>
            </a:r>
            <a:endParaRPr b="0" lang="en-US" sz="3750" strike="noStrike" u="none">
              <a:solidFill>
                <a:srgbClr val="000000"/>
              </a:solidFill>
              <a:effectLst/>
              <a:uFillTx/>
              <a:latin typeface="Arial"/>
            </a:endParaRPr>
          </a:p>
        </p:txBody>
      </p:sp>
      <p:sp>
        <p:nvSpPr>
          <p:cNvPr id="256" name="text-8"/>
          <p:cNvSpPr/>
          <p:nvPr/>
        </p:nvSpPr>
        <p:spPr>
          <a:xfrm>
            <a:off x="4552920" y="3276720"/>
            <a:ext cx="3238200" cy="1428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243b4b"/>
                </a:solidFill>
                <a:effectLst/>
                <a:uFillTx/>
                <a:latin typeface="DejaVu Sans"/>
                <a:ea typeface="DejaVu Sans"/>
              </a:rPr>
              <a:t>Web, Admin y API</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PostgreSQL con PVC</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Flujos verificados</a:t>
            </a:r>
            <a:endParaRPr b="0" lang="en-US" sz="2020" strike="noStrike" u="none">
              <a:solidFill>
                <a:srgbClr val="000000"/>
              </a:solidFill>
              <a:effectLst/>
              <a:uFillTx/>
              <a:latin typeface="Arial"/>
            </a:endParaRPr>
          </a:p>
        </p:txBody>
      </p:sp>
      <p:sp>
        <p:nvSpPr>
          <p:cNvPr id="257" name="text-9"/>
          <p:cNvSpPr/>
          <p:nvPr/>
        </p:nvSpPr>
        <p:spPr>
          <a:xfrm>
            <a:off x="8496360" y="1733400"/>
            <a:ext cx="3085920" cy="304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430" strike="noStrike" u="none">
                <a:solidFill>
                  <a:srgbClr val="087e9e"/>
                </a:solidFill>
                <a:effectLst/>
                <a:uFillTx/>
                <a:latin typeface="DejaVu Sans"/>
                <a:ea typeface="DejaVu Sans"/>
              </a:rPr>
              <a:t>SIGUIENTE ETAPA</a:t>
            </a:r>
            <a:endParaRPr b="0" lang="en-US" sz="1430" strike="noStrike" u="none">
              <a:solidFill>
                <a:srgbClr val="000000"/>
              </a:solidFill>
              <a:effectLst/>
              <a:uFillTx/>
              <a:latin typeface="Arial"/>
            </a:endParaRPr>
          </a:p>
        </p:txBody>
      </p:sp>
      <p:sp>
        <p:nvSpPr>
          <p:cNvPr id="258" name="text-10"/>
          <p:cNvSpPr/>
          <p:nvPr/>
        </p:nvSpPr>
        <p:spPr>
          <a:xfrm>
            <a:off x="8496360" y="2238480"/>
            <a:ext cx="3085920" cy="704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3750" strike="noStrike" u="none">
                <a:solidFill>
                  <a:srgbClr val="103e60"/>
                </a:solidFill>
                <a:effectLst/>
                <a:uFillTx/>
                <a:latin typeface="DejaVu Sans"/>
                <a:ea typeface="DejaVu Sans"/>
              </a:rPr>
              <a:t>Piloto</a:t>
            </a:r>
            <a:endParaRPr b="0" lang="en-US" sz="3750" strike="noStrike" u="none">
              <a:solidFill>
                <a:srgbClr val="000000"/>
              </a:solidFill>
              <a:effectLst/>
              <a:uFillTx/>
              <a:latin typeface="Arial"/>
            </a:endParaRPr>
          </a:p>
        </p:txBody>
      </p:sp>
      <p:sp>
        <p:nvSpPr>
          <p:cNvPr id="259" name="text-11"/>
          <p:cNvSpPr/>
          <p:nvPr/>
        </p:nvSpPr>
        <p:spPr>
          <a:xfrm>
            <a:off x="8496360" y="3276720"/>
            <a:ext cx="3085920" cy="14284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020" strike="noStrike" u="none">
                <a:solidFill>
                  <a:srgbClr val="243b4b"/>
                </a:solidFill>
                <a:effectLst/>
                <a:uFillTx/>
                <a:latin typeface="DejaVu Sans"/>
                <a:ea typeface="DejaVu Sans"/>
              </a:rPr>
              <a:t>Publicación de K8s</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HTTPS y respaldos</a:t>
            </a:r>
            <a:endParaRPr b="0" lang="en-US" sz="2020" strike="noStrike" u="none">
              <a:solidFill>
                <a:srgbClr val="000000"/>
              </a:solidFill>
              <a:effectLst/>
              <a:uFillTx/>
              <a:latin typeface="Arial"/>
            </a:endParaRPr>
          </a:p>
          <a:p>
            <a:pPr>
              <a:lnSpc>
                <a:spcPct val="100000"/>
              </a:lnSpc>
            </a:pPr>
            <a:r>
              <a:rPr b="0" lang="en-US" sz="2020" strike="noStrike" u="none">
                <a:solidFill>
                  <a:srgbClr val="243b4b"/>
                </a:solidFill>
                <a:effectLst/>
                <a:uFillTx/>
                <a:latin typeface="DejaVu Sans"/>
                <a:ea typeface="DejaVu Sans"/>
              </a:rPr>
              <a:t>Medición del impacto</a:t>
            </a:r>
            <a:endParaRPr b="0" lang="en-US" sz="2020" strike="noStrike" u="none">
              <a:solidFill>
                <a:srgbClr val="000000"/>
              </a:solidFill>
              <a:effectLst/>
              <a:uFillTx/>
              <a:latin typeface="Arial"/>
            </a:endParaRPr>
          </a:p>
        </p:txBody>
      </p:sp>
      <p:sp>
        <p:nvSpPr>
          <p:cNvPr id="260" name="text-12"/>
          <p:cNvSpPr/>
          <p:nvPr/>
        </p:nvSpPr>
        <p:spPr>
          <a:xfrm>
            <a:off x="609480" y="5610240"/>
            <a:ext cx="1095336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trike="noStrike" u="none">
                <a:solidFill>
                  <a:srgbClr val="075d91"/>
                </a:solidFill>
                <a:effectLst/>
                <a:uFillTx/>
                <a:latin typeface="DejaVu Sans"/>
                <a:ea typeface="DejaVu Sans"/>
              </a:rPr>
              <a:t>K8s validado localmente. La publicación externa requiere configuración y preparación operativa.</a:t>
            </a:r>
            <a:endParaRPr b="0" lang="en-US" sz="1800" strike="noStrike" u="none">
              <a:solidFill>
                <a:srgbClr val="000000"/>
              </a:solidFill>
              <a:effectLst/>
              <a:uFillTx/>
              <a:latin typeface="Arial"/>
            </a:endParaRPr>
          </a:p>
        </p:txBody>
      </p:sp>
    </p:spTree>
  </p:cSld>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3e60"/>
        </a:solidFill>
      </p:bgPr>
    </p:bg>
    <p:spTree>
      <p:nvGrpSpPr>
        <p:cNvPr id="1" name=""/>
        <p:cNvGrpSpPr/>
        <p:nvPr/>
      </p:nvGrpSpPr>
      <p:grpSpPr>
        <a:xfrm>
          <a:off x="0" y="0"/>
          <a:ext cx="0" cy="0"/>
          <a:chOff x="0" y="0"/>
          <a:chExt cx="0" cy="0"/>
        </a:xfrm>
      </p:grpSpPr>
      <p:sp>
        <p:nvSpPr>
          <p:cNvPr id="261" name="text-0"/>
          <p:cNvSpPr/>
          <p:nvPr/>
        </p:nvSpPr>
        <p:spPr>
          <a:xfrm>
            <a:off x="609480" y="6419880"/>
            <a:ext cx="1028664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50" strike="noStrike" u="none">
                <a:solidFill>
                  <a:srgbClr val="a9dbe5"/>
                </a:solidFill>
                <a:effectLst/>
                <a:uFillTx/>
                <a:latin typeface="DejaVu Sans"/>
                <a:ea typeface="DejaVu Sans"/>
              </a:rPr>
              <a:t>HIDRO-MEJORA   /   Proyecto universitario</a:t>
            </a:r>
            <a:endParaRPr b="0" lang="en-US" sz="1050" strike="noStrike" u="none">
              <a:solidFill>
                <a:srgbClr val="ffffff"/>
              </a:solidFill>
              <a:effectLst/>
              <a:uFillTx/>
              <a:latin typeface="Arial"/>
            </a:endParaRPr>
          </a:p>
        </p:txBody>
      </p:sp>
      <p:sp>
        <p:nvSpPr>
          <p:cNvPr id="262" name="text-1"/>
          <p:cNvSpPr/>
          <p:nvPr/>
        </p:nvSpPr>
        <p:spPr>
          <a:xfrm>
            <a:off x="11049120" y="6381720"/>
            <a:ext cx="533160" cy="266400"/>
          </a:xfrm>
          <a:prstGeom prst="rect">
            <a:avLst/>
          </a:prstGeom>
          <a:noFill/>
          <a:ln w="0">
            <a:noFill/>
          </a:ln>
        </p:spPr>
        <p:style>
          <a:lnRef idx="0"/>
          <a:fillRef idx="0"/>
          <a:effectRef idx="0"/>
          <a:fontRef idx="minor"/>
        </p:style>
        <p:txBody>
          <a:bodyPr lIns="0" rIns="0" tIns="0" bIns="0" anchor="t">
            <a:noAutofit/>
          </a:bodyPr>
          <a:p>
            <a:pPr algn="r">
              <a:lnSpc>
                <a:spcPct val="100000"/>
              </a:lnSpc>
            </a:pPr>
            <a:r>
              <a:rPr b="1" lang="en-US" sz="1280" strike="noStrike" u="none">
                <a:solidFill>
                  <a:srgbClr val="a9dbe5"/>
                </a:solidFill>
                <a:effectLst/>
                <a:uFillTx/>
                <a:latin typeface="DejaVu Sans"/>
                <a:ea typeface="DejaVu Sans"/>
              </a:rPr>
              <a:t>16</a:t>
            </a:r>
            <a:endParaRPr b="0" lang="en-US" sz="1280" strike="noStrike" u="none">
              <a:solidFill>
                <a:srgbClr val="ffffff"/>
              </a:solidFill>
              <a:effectLst/>
              <a:uFillTx/>
              <a:latin typeface="Arial"/>
            </a:endParaRPr>
          </a:p>
        </p:txBody>
      </p:sp>
      <p:pic>
        <p:nvPicPr>
          <p:cNvPr id="263" name="" descr=""/>
          <p:cNvPicPr/>
          <p:nvPr/>
        </p:nvPicPr>
        <p:blipFill>
          <a:blip r:embed="rId1"/>
          <a:stretch/>
        </p:blipFill>
        <p:spPr>
          <a:xfrm>
            <a:off x="7054560" y="1380960"/>
            <a:ext cx="4844880" cy="3714480"/>
          </a:xfrm>
          <a:prstGeom prst="rect">
            <a:avLst/>
          </a:prstGeom>
          <a:noFill/>
          <a:ln w="0">
            <a:noFill/>
          </a:ln>
        </p:spPr>
      </p:pic>
      <p:pic>
        <p:nvPicPr>
          <p:cNvPr id="264" name="" descr=""/>
          <p:cNvPicPr/>
          <p:nvPr/>
        </p:nvPicPr>
        <p:blipFill>
          <a:blip r:embed="rId2"/>
          <a:stretch/>
        </p:blipFill>
        <p:spPr>
          <a:xfrm>
            <a:off x="609480" y="571680"/>
            <a:ext cx="723600" cy="723600"/>
          </a:xfrm>
          <a:prstGeom prst="rect">
            <a:avLst/>
          </a:prstGeom>
          <a:noFill/>
          <a:ln w="0">
            <a:noFill/>
          </a:ln>
        </p:spPr>
      </p:pic>
      <p:sp>
        <p:nvSpPr>
          <p:cNvPr id="265" name="text-2"/>
          <p:cNvSpPr/>
          <p:nvPr/>
        </p:nvSpPr>
        <p:spPr>
          <a:xfrm>
            <a:off x="609480" y="1895400"/>
            <a:ext cx="7238520" cy="16855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4950" strike="noStrike" u="none">
                <a:solidFill>
                  <a:srgbClr val="ffffff"/>
                </a:solidFill>
                <a:effectLst/>
                <a:uFillTx/>
                <a:latin typeface="DejaVu Sans"/>
                <a:ea typeface="DejaVu Sans"/>
              </a:rPr>
              <a:t>Tu suministro,</a:t>
            </a:r>
            <a:endParaRPr b="0" lang="en-US" sz="4950" strike="noStrike" u="none">
              <a:solidFill>
                <a:srgbClr val="ffffff"/>
              </a:solidFill>
              <a:effectLst/>
              <a:uFillTx/>
              <a:latin typeface="Arial"/>
            </a:endParaRPr>
          </a:p>
          <a:p>
            <a:pPr>
              <a:lnSpc>
                <a:spcPct val="100000"/>
              </a:lnSpc>
            </a:pPr>
            <a:r>
              <a:rPr b="1" lang="en-US" sz="4950" strike="noStrike" u="none">
                <a:solidFill>
                  <a:srgbClr val="ffffff"/>
                </a:solidFill>
                <a:effectLst/>
                <a:uFillTx/>
                <a:latin typeface="DejaVu Sans"/>
                <a:ea typeface="DejaVu Sans"/>
              </a:rPr>
              <a:t>a tu alcance</a:t>
            </a:r>
            <a:endParaRPr b="0" lang="en-US" sz="4950" strike="noStrike" u="none">
              <a:solidFill>
                <a:srgbClr val="ffffff"/>
              </a:solidFill>
              <a:effectLst/>
              <a:uFillTx/>
              <a:latin typeface="Arial"/>
            </a:endParaRPr>
          </a:p>
        </p:txBody>
      </p:sp>
      <p:sp>
        <p:nvSpPr>
          <p:cNvPr id="266" name="text-3"/>
          <p:cNvSpPr/>
          <p:nvPr/>
        </p:nvSpPr>
        <p:spPr>
          <a:xfrm>
            <a:off x="609480" y="4105440"/>
            <a:ext cx="7619760" cy="1304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trike="noStrike" u="none">
                <a:solidFill>
                  <a:srgbClr val="a9dbe5"/>
                </a:solidFill>
                <a:effectLst/>
                <a:uFillTx/>
                <a:latin typeface="DejaVu Sans"/>
                <a:ea typeface="DejaVu Sans"/>
              </a:rPr>
              <a:t>Conocemos el problema</a:t>
            </a:r>
            <a:endParaRPr b="0" lang="en-US" sz="2250" strike="noStrike" u="none">
              <a:solidFill>
                <a:srgbClr val="ffffff"/>
              </a:solidFill>
              <a:effectLst/>
              <a:uFillTx/>
              <a:latin typeface="Arial"/>
            </a:endParaRPr>
          </a:p>
          <a:p>
            <a:pPr>
              <a:lnSpc>
                <a:spcPct val="100000"/>
              </a:lnSpc>
            </a:pPr>
            <a:r>
              <a:rPr b="0" lang="en-US" sz="2250" strike="noStrike" u="none">
                <a:solidFill>
                  <a:srgbClr val="a9dbe5"/>
                </a:solidFill>
                <a:effectLst/>
                <a:uFillTx/>
                <a:latin typeface="DejaVu Sans"/>
                <a:ea typeface="DejaVu Sans"/>
              </a:rPr>
              <a:t>Construimos la solución</a:t>
            </a:r>
            <a:endParaRPr b="0" lang="en-US" sz="2250" strike="noStrike" u="none">
              <a:solidFill>
                <a:srgbClr val="ffffff"/>
              </a:solidFill>
              <a:effectLst/>
              <a:uFillTx/>
              <a:latin typeface="Arial"/>
            </a:endParaRPr>
          </a:p>
          <a:p>
            <a:pPr>
              <a:lnSpc>
                <a:spcPct val="100000"/>
              </a:lnSpc>
            </a:pPr>
            <a:r>
              <a:rPr b="0" lang="en-US" sz="2250" strike="noStrike" u="none">
                <a:solidFill>
                  <a:srgbClr val="a9dbe5"/>
                </a:solidFill>
                <a:effectLst/>
                <a:uFillTx/>
                <a:latin typeface="DejaVu Sans"/>
                <a:ea typeface="DejaVu Sans"/>
              </a:rPr>
              <a:t>Explicamos su ingeniería</a:t>
            </a:r>
            <a:endParaRPr b="0" lang="en-US" sz="2250" strike="noStrike" u="none">
              <a:solidFill>
                <a:srgbClr val="ffffff"/>
              </a:solidFill>
              <a:effectLst/>
              <a:uFillTx/>
              <a:latin typeface="Arial"/>
            </a:endParaRPr>
          </a:p>
        </p:txBody>
      </p:sp>
      <p:sp>
        <p:nvSpPr>
          <p:cNvPr id="267" name="text-4"/>
          <p:cNvSpPr/>
          <p:nvPr/>
        </p:nvSpPr>
        <p:spPr>
          <a:xfrm>
            <a:off x="609480" y="5743440"/>
            <a:ext cx="6667200" cy="504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700" strike="noStrike" u="none">
                <a:solidFill>
                  <a:srgbClr val="ffffff"/>
                </a:solidFill>
                <a:effectLst/>
                <a:uFillTx/>
                <a:latin typeface="DejaVu Sans"/>
                <a:ea typeface="DejaVu Sans"/>
              </a:rPr>
              <a:t>Gracias</a:t>
            </a:r>
            <a:endParaRPr b="0" lang="en-US" sz="2700" strike="noStrike" u="none">
              <a:solidFill>
                <a:srgbClr val="ffffff"/>
              </a:solidFill>
              <a:effectLst/>
              <a:uFillTx/>
              <a:latin typeface="Arial"/>
            </a:endParaRPr>
          </a:p>
        </p:txBody>
      </p:sp>
    </p:spTree>
  </p:cSld>
  <p:transition spd="med">
    <p:fade/>
  </p:transition>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2026-10-19T19:17:01Z</dcterms:created>
  <dc:creator>Walnut Exporter</dc:creator>
  <dc:description/>
  <dc:language>en-US</dc:language>
  <cp:lastModifiedBy/>
  <dcterms:modified xsi:type="dcterms:W3CDTF">2026-10-22T10:16:40Z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